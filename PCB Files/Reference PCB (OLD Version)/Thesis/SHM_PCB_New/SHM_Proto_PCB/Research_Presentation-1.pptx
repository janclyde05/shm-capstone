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2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BDC3C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BDC3C7"/>
                </a:solidFill>
                <a:latin typeface="Arial"/>
              </a:rPr>
              <a:t>CRIT Events per Session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 Events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All-Axis X</c:v>
                </c:pt>
                <c:pt idx="1">
                  <c:v>All-Axis Y</c:v>
                </c:pt>
                <c:pt idx="2">
                  <c:v>All-Axis Z</c:v>
                </c:pt>
                <c:pt idx="3">
                  <c:v>Y-Axis Session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653.0</c:v>
                </c:pt>
                <c:pt idx="1">
                  <c:v>569.0</c:v>
                </c:pt>
                <c:pt idx="2">
                  <c:v>581.0</c:v>
                </c:pt>
                <c:pt idx="3">
                  <c:v>2514.0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5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344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12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912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912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2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12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1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/mnt/user-data/uploads/cropped_circle_image__1_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182880"/>
            <a:ext cx="1143000" cy="1143000"/>
          </a:xfrm>
          <a:prstGeom prst="rect"/>
        </p:spPr>
      </p:pic>
      <p:sp>
        <p:nvSpPr>
          <p:cNvPr id="1048576" name="Shape 0"/>
          <p:cNvSpPr/>
          <p:nvPr/>
        </p:nvSpPr>
        <p:spPr>
          <a:xfrm>
            <a:off x="9052560" y="182880"/>
            <a:ext cx="283464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577" name="Text 1"/>
          <p:cNvSpPr/>
          <p:nvPr/>
        </p:nvSpPr>
        <p:spPr>
          <a:xfrm>
            <a:off x="9098280" y="256032"/>
            <a:ext cx="274320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61,892</a:t>
            </a:r>
            <a:endParaRPr dirty="0" sz="3200" lang="en-US"/>
          </a:p>
        </p:txBody>
      </p:sp>
      <p:sp>
        <p:nvSpPr>
          <p:cNvPr id="1048578" name="Text 2"/>
          <p:cNvSpPr/>
          <p:nvPr/>
        </p:nvSpPr>
        <p:spPr>
          <a:xfrm>
            <a:off x="9098280" y="898855"/>
            <a:ext cx="274320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Records Logged</a:t>
            </a:r>
            <a:endParaRPr dirty="0" sz="900" lang="en-US"/>
          </a:p>
        </p:txBody>
      </p:sp>
      <p:sp>
        <p:nvSpPr>
          <p:cNvPr id="1048579" name="Shape 3"/>
          <p:cNvSpPr/>
          <p:nvPr/>
        </p:nvSpPr>
        <p:spPr>
          <a:xfrm>
            <a:off x="9052560" y="1508760"/>
            <a:ext cx="283464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580" name="Text 4"/>
          <p:cNvSpPr/>
          <p:nvPr/>
        </p:nvSpPr>
        <p:spPr>
          <a:xfrm>
            <a:off x="9098280" y="1581912"/>
            <a:ext cx="274320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dirty="0" sz="3200" lang="en-US"/>
          </a:p>
        </p:txBody>
      </p:sp>
      <p:sp>
        <p:nvSpPr>
          <p:cNvPr id="1048581" name="Text 5"/>
          <p:cNvSpPr/>
          <p:nvPr/>
        </p:nvSpPr>
        <p:spPr>
          <a:xfrm>
            <a:off x="9098280" y="2224735"/>
            <a:ext cx="274320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Success Rate</a:t>
            </a:r>
            <a:endParaRPr dirty="0" sz="900" lang="en-US"/>
          </a:p>
        </p:txBody>
      </p:sp>
      <p:sp>
        <p:nvSpPr>
          <p:cNvPr id="1048582" name="Shape 6"/>
          <p:cNvSpPr/>
          <p:nvPr/>
        </p:nvSpPr>
        <p:spPr>
          <a:xfrm>
            <a:off x="9052560" y="2834640"/>
            <a:ext cx="283464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583" name="Text 7"/>
          <p:cNvSpPr/>
          <p:nvPr/>
        </p:nvSpPr>
        <p:spPr>
          <a:xfrm>
            <a:off x="9098280" y="2907792"/>
            <a:ext cx="274320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5.57–5.94</a:t>
            </a:r>
            <a:endParaRPr dirty="0" sz="3200" lang="en-US"/>
          </a:p>
        </p:txBody>
      </p:sp>
      <p:sp>
        <p:nvSpPr>
          <p:cNvPr id="1048584" name="Text 8"/>
          <p:cNvSpPr/>
          <p:nvPr/>
        </p:nvSpPr>
        <p:spPr>
          <a:xfrm>
            <a:off x="9098280" y="3550615"/>
            <a:ext cx="274320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— Structural Resonance (All-Axis)</a:t>
            </a:r>
            <a:endParaRPr dirty="0" sz="900" lang="en-US"/>
          </a:p>
        </p:txBody>
      </p:sp>
      <p:sp>
        <p:nvSpPr>
          <p:cNvPr id="1048585" name="Text 9"/>
          <p:cNvSpPr/>
          <p:nvPr/>
        </p:nvSpPr>
        <p:spPr>
          <a:xfrm>
            <a:off x="1600200" y="256032"/>
            <a:ext cx="71323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 ·  CARIG CAMPUS</a:t>
            </a:r>
            <a:endParaRPr dirty="0" sz="900" lang="en-US"/>
          </a:p>
        </p:txBody>
      </p:sp>
      <p:sp>
        <p:nvSpPr>
          <p:cNvPr id="1048586" name="Text 10"/>
          <p:cNvSpPr/>
          <p:nvPr/>
        </p:nvSpPr>
        <p:spPr>
          <a:xfrm>
            <a:off x="1600200" y="512064"/>
            <a:ext cx="713232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AND ARCHITECTURE</a:t>
            </a:r>
            <a:endParaRPr dirty="0" sz="900" lang="en-US"/>
          </a:p>
        </p:txBody>
      </p:sp>
      <p:sp>
        <p:nvSpPr>
          <p:cNvPr id="1048587" name="Text 11"/>
          <p:cNvSpPr/>
          <p:nvPr/>
        </p:nvSpPr>
        <p:spPr>
          <a:xfrm>
            <a:off x="365760" y="1444752"/>
            <a:ext cx="8412480" cy="21031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 LOCALIZED</a:t>
            </a:r>
            <a:endParaRPr dirty="0" sz="2600" lang="en-US"/>
          </a:p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FREQUENCY MONITORING</a:t>
            </a:r>
            <a:endParaRPr dirty="0" sz="2600" lang="en-US"/>
          </a:p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FOR STRUCTURAL HEALTH</a:t>
            </a:r>
            <a:endParaRPr dirty="0" sz="2600" lang="en-US"/>
          </a:p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USING MEMS IMUs AND ESP32</a:t>
            </a:r>
            <a:endParaRPr dirty="0" sz="2600" lang="en-US"/>
          </a:p>
        </p:txBody>
      </p:sp>
      <p:sp>
        <p:nvSpPr>
          <p:cNvPr id="1048588" name="Text 12"/>
          <p:cNvSpPr/>
          <p:nvPr/>
        </p:nvSpPr>
        <p:spPr>
          <a:xfrm>
            <a:off x="365760" y="3611880"/>
            <a:ext cx="84124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Cost-Effective, Embedded IoT Approach to Bridge Vibration Analysis</a:t>
            </a:r>
            <a:endParaRPr dirty="0" sz="1300" lang="en-US"/>
          </a:p>
        </p:txBody>
      </p:sp>
      <p:sp>
        <p:nvSpPr>
          <p:cNvPr id="1048589" name="Shape 13"/>
          <p:cNvSpPr/>
          <p:nvPr/>
        </p:nvSpPr>
        <p:spPr>
          <a:xfrm>
            <a:off x="365760" y="4041648"/>
            <a:ext cx="841248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590" name="Text 14"/>
          <p:cNvSpPr/>
          <p:nvPr/>
        </p:nvSpPr>
        <p:spPr>
          <a:xfrm>
            <a:off x="365760" y="4133088"/>
            <a:ext cx="841248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Electronics Engineering  ·  April 2026</a:t>
            </a:r>
            <a:endParaRPr dirty="0" sz="1000" lang="en-US"/>
          </a:p>
        </p:txBody>
      </p:sp>
      <p:sp>
        <p:nvSpPr>
          <p:cNvPr id="1048591" name="Text 15"/>
          <p:cNvSpPr/>
          <p:nvPr/>
        </p:nvSpPr>
        <p:spPr>
          <a:xfrm>
            <a:off x="365760" y="4480560"/>
            <a:ext cx="841248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Researchers:</a:t>
            </a:r>
            <a:endParaRPr dirty="0" sz="900" lang="en-US"/>
          </a:p>
        </p:txBody>
      </p:sp>
      <p:sp>
        <p:nvSpPr>
          <p:cNvPr id="1048592" name="Text 16"/>
          <p:cNvSpPr/>
          <p:nvPr/>
        </p:nvSpPr>
        <p:spPr>
          <a:xfrm>
            <a:off x="365760" y="4736592"/>
            <a:ext cx="40233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Jan Clyde Talosig</a:t>
            </a:r>
            <a:endParaRPr b="1" dirty="0" sz="1100" lang="en-US">
              <a:solidFill>
                <a:srgbClr val="FFFFFF"/>
              </a:solidFill>
            </a:endParaRPr>
          </a:p>
        </p:txBody>
      </p:sp>
      <p:sp>
        <p:nvSpPr>
          <p:cNvPr id="1048593" name="Text 17"/>
          <p:cNvSpPr/>
          <p:nvPr/>
        </p:nvSpPr>
        <p:spPr>
          <a:xfrm>
            <a:off x="4754880" y="4736592"/>
            <a:ext cx="40233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Shamel Alliyah Senosn</a:t>
            </a:r>
            <a:endParaRPr dirty="0" sz="1100" lang="en-US"/>
          </a:p>
        </p:txBody>
      </p:sp>
      <p:sp>
        <p:nvSpPr>
          <p:cNvPr id="1048594" name="Text 18"/>
          <p:cNvSpPr/>
          <p:nvPr/>
        </p:nvSpPr>
        <p:spPr>
          <a:xfrm>
            <a:off x="365760" y="5010912"/>
            <a:ext cx="40233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</a:rPr>
              <a:t>Ayessa Marie Ramos</a:t>
            </a:r>
            <a:endParaRPr b="1" dirty="0" sz="1100" lang="en-US">
              <a:solidFill>
                <a:srgbClr val="FFFFFF"/>
              </a:solidFill>
            </a:endParaRPr>
          </a:p>
        </p:txBody>
      </p:sp>
      <p:sp>
        <p:nvSpPr>
          <p:cNvPr id="1048595" name="Text 19"/>
          <p:cNvSpPr/>
          <p:nvPr/>
        </p:nvSpPr>
        <p:spPr>
          <a:xfrm>
            <a:off x="4754880" y="5010912"/>
            <a:ext cx="402336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Almoite</a:t>
            </a:r>
            <a:endParaRPr dirty="0" sz="1100" lang="en-US"/>
          </a:p>
        </p:txBody>
      </p:sp>
      <p:sp>
        <p:nvSpPr>
          <p:cNvPr id="1048596" name="Text 20"/>
          <p:cNvSpPr/>
          <p:nvPr/>
        </p:nvSpPr>
        <p:spPr>
          <a:xfrm>
            <a:off x="365760" y="5486400"/>
            <a:ext cx="841248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– Carig Campus  ·  Tuguegarao City, Cagayan</a:t>
            </a:r>
            <a:endParaRPr dirty="0" sz="900" lang="en-US"/>
          </a:p>
        </p:txBody>
      </p:sp>
      <p:sp>
        <p:nvSpPr>
          <p:cNvPr id="1048597" name="Text 21"/>
          <p:cNvSpPr/>
          <p:nvPr/>
        </p:nvSpPr>
        <p:spPr>
          <a:xfrm>
            <a:off x="365760" y="5760720"/>
            <a:ext cx="841248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Submission: April 2026</a:t>
            </a:r>
            <a:endParaRPr dirty="0" sz="9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F72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ext 0"/>
          <p:cNvSpPr/>
          <p:nvPr/>
        </p:nvSpPr>
        <p:spPr>
          <a:xfrm>
            <a:off x="365760" y="18288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dirty="0" sz="2800" lang="en-US"/>
          </a:p>
        </p:txBody>
      </p:sp>
      <p:sp>
        <p:nvSpPr>
          <p:cNvPr id="1048602" name="Text 1"/>
          <p:cNvSpPr/>
          <p:nvPr/>
        </p:nvSpPr>
        <p:spPr>
          <a:xfrm>
            <a:off x="365760" y="841248"/>
            <a:ext cx="1133856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Real-Time Frequency Monitoring System for Structural Health Monitoring</a:t>
            </a:r>
            <a:endParaRPr dirty="0" sz="1300" lang="en-US"/>
          </a:p>
        </p:txBody>
      </p:sp>
      <p:sp>
        <p:nvSpPr>
          <p:cNvPr id="1048603" name="Shape 2"/>
          <p:cNvSpPr/>
          <p:nvPr/>
        </p:nvSpPr>
        <p:spPr>
          <a:xfrm>
            <a:off x="365760" y="1170432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04" name="Shape 3"/>
          <p:cNvSpPr/>
          <p:nvPr/>
        </p:nvSpPr>
        <p:spPr>
          <a:xfrm>
            <a:off x="365760" y="1298448"/>
            <a:ext cx="2743200" cy="347472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05" name="Text 4"/>
          <p:cNvSpPr/>
          <p:nvPr/>
        </p:nvSpPr>
        <p:spPr>
          <a:xfrm>
            <a:off x="411480" y="1298448"/>
            <a:ext cx="26517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</a:t>
            </a:r>
            <a:endParaRPr dirty="0" sz="1300" lang="en-US"/>
          </a:p>
        </p:txBody>
      </p:sp>
      <p:sp>
        <p:nvSpPr>
          <p:cNvPr id="1048606" name="Text 5"/>
          <p:cNvSpPr/>
          <p:nvPr/>
        </p:nvSpPr>
        <p:spPr>
          <a:xfrm>
            <a:off x="365760" y="1737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dirty="0" sz="1500" lang="en-US"/>
          </a:p>
        </p:txBody>
      </p:sp>
      <p:sp>
        <p:nvSpPr>
          <p:cNvPr id="1048607" name="Shape 6"/>
          <p:cNvSpPr/>
          <p:nvPr/>
        </p:nvSpPr>
        <p:spPr>
          <a:xfrm>
            <a:off x="365760" y="2148840"/>
            <a:ext cx="27432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08" name="Text 7"/>
          <p:cNvSpPr/>
          <p:nvPr/>
        </p:nvSpPr>
        <p:spPr>
          <a:xfrm>
            <a:off x="365760" y="226771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dirty="0" sz="1100" lang="en-US"/>
          </a:p>
        </p:txBody>
      </p:sp>
      <p:sp>
        <p:nvSpPr>
          <p:cNvPr id="1048609" name="Text 8"/>
          <p:cNvSpPr/>
          <p:nvPr/>
        </p:nvSpPr>
        <p:spPr>
          <a:xfrm>
            <a:off x="365760" y="290779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(IPO)</a:t>
            </a:r>
            <a:endParaRPr dirty="0" sz="1100" lang="en-US"/>
          </a:p>
        </p:txBody>
      </p:sp>
      <p:sp>
        <p:nvSpPr>
          <p:cNvPr id="1048610" name="Text 9"/>
          <p:cNvSpPr/>
          <p:nvPr/>
        </p:nvSpPr>
        <p:spPr>
          <a:xfrm>
            <a:off x="365760" y="354787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 &amp; Objectives</a:t>
            </a:r>
            <a:endParaRPr dirty="0" sz="1100" lang="en-US"/>
          </a:p>
        </p:txBody>
      </p:sp>
      <p:sp>
        <p:nvSpPr>
          <p:cNvPr id="1048611" name="Text 10"/>
          <p:cNvSpPr/>
          <p:nvPr/>
        </p:nvSpPr>
        <p:spPr>
          <a:xfrm>
            <a:off x="365760" y="418795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Delimitations</a:t>
            </a:r>
            <a:endParaRPr dirty="0" sz="1100" lang="en-US"/>
          </a:p>
        </p:txBody>
      </p:sp>
      <p:sp>
        <p:nvSpPr>
          <p:cNvPr id="1048612" name="Text 11"/>
          <p:cNvSpPr/>
          <p:nvPr/>
        </p:nvSpPr>
        <p:spPr>
          <a:xfrm>
            <a:off x="365760" y="482803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dirty="0" sz="1100" lang="en-US"/>
          </a:p>
        </p:txBody>
      </p:sp>
      <p:sp>
        <p:nvSpPr>
          <p:cNvPr id="1048613" name="Shape 12"/>
          <p:cNvSpPr/>
          <p:nvPr/>
        </p:nvSpPr>
        <p:spPr>
          <a:xfrm>
            <a:off x="3246120" y="1298448"/>
            <a:ext cx="2743200" cy="347472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14" name="Text 13"/>
          <p:cNvSpPr/>
          <p:nvPr/>
        </p:nvSpPr>
        <p:spPr>
          <a:xfrm>
            <a:off x="3291840" y="1298448"/>
            <a:ext cx="26517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II</a:t>
            </a:r>
            <a:endParaRPr dirty="0" sz="1300" lang="en-US"/>
          </a:p>
        </p:txBody>
      </p:sp>
      <p:sp>
        <p:nvSpPr>
          <p:cNvPr id="1048615" name="Text 14"/>
          <p:cNvSpPr/>
          <p:nvPr/>
        </p:nvSpPr>
        <p:spPr>
          <a:xfrm>
            <a:off x="3246120" y="1737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dirty="0" sz="1500" lang="en-US"/>
          </a:p>
        </p:txBody>
      </p:sp>
      <p:sp>
        <p:nvSpPr>
          <p:cNvPr id="1048616" name="Shape 15"/>
          <p:cNvSpPr/>
          <p:nvPr/>
        </p:nvSpPr>
        <p:spPr>
          <a:xfrm>
            <a:off x="3246120" y="2148840"/>
            <a:ext cx="27432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17" name="Text 16"/>
          <p:cNvSpPr/>
          <p:nvPr/>
        </p:nvSpPr>
        <p:spPr>
          <a:xfrm>
            <a:off x="3246120" y="226771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Health Monitoring</a:t>
            </a:r>
            <a:endParaRPr dirty="0" sz="1100" lang="en-US"/>
          </a:p>
        </p:txBody>
      </p:sp>
      <p:sp>
        <p:nvSpPr>
          <p:cNvPr id="1048618" name="Text 17"/>
          <p:cNvSpPr/>
          <p:nvPr/>
        </p:nvSpPr>
        <p:spPr>
          <a:xfrm>
            <a:off x="3246120" y="290779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Sensors &amp; ESP32</a:t>
            </a:r>
            <a:endParaRPr dirty="0" sz="1100" lang="en-US"/>
          </a:p>
        </p:txBody>
      </p:sp>
      <p:sp>
        <p:nvSpPr>
          <p:cNvPr id="1048619" name="Text 18"/>
          <p:cNvSpPr/>
          <p:nvPr/>
        </p:nvSpPr>
        <p:spPr>
          <a:xfrm>
            <a:off x="3246120" y="354787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&amp; Signal Processing</a:t>
            </a:r>
            <a:endParaRPr dirty="0" sz="1100" lang="en-US"/>
          </a:p>
        </p:txBody>
      </p:sp>
      <p:sp>
        <p:nvSpPr>
          <p:cNvPr id="1048620" name="Text 19"/>
          <p:cNvSpPr/>
          <p:nvPr/>
        </p:nvSpPr>
        <p:spPr>
          <a:xfrm>
            <a:off x="3246120" y="418795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SHM Systems</a:t>
            </a:r>
            <a:endParaRPr dirty="0" sz="1100" lang="en-US"/>
          </a:p>
        </p:txBody>
      </p:sp>
      <p:sp>
        <p:nvSpPr>
          <p:cNvPr id="1048621" name="Text 20"/>
          <p:cNvSpPr/>
          <p:nvPr/>
        </p:nvSpPr>
        <p:spPr>
          <a:xfrm>
            <a:off x="3246120" y="482803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Literature</a:t>
            </a:r>
            <a:endParaRPr dirty="0" sz="1100" lang="en-US"/>
          </a:p>
        </p:txBody>
      </p:sp>
      <p:sp>
        <p:nvSpPr>
          <p:cNvPr id="1048622" name="Shape 21"/>
          <p:cNvSpPr/>
          <p:nvPr/>
        </p:nvSpPr>
        <p:spPr>
          <a:xfrm>
            <a:off x="6126480" y="1298448"/>
            <a:ext cx="2743200" cy="347472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23" name="Text 22"/>
          <p:cNvSpPr/>
          <p:nvPr/>
        </p:nvSpPr>
        <p:spPr>
          <a:xfrm>
            <a:off x="6172200" y="1298448"/>
            <a:ext cx="26517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III</a:t>
            </a:r>
            <a:endParaRPr dirty="0" sz="1300" lang="en-US"/>
          </a:p>
        </p:txBody>
      </p:sp>
      <p:sp>
        <p:nvSpPr>
          <p:cNvPr id="1048624" name="Text 23"/>
          <p:cNvSpPr/>
          <p:nvPr/>
        </p:nvSpPr>
        <p:spPr>
          <a:xfrm>
            <a:off x="6126480" y="1737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dirty="0" sz="1500" lang="en-US"/>
          </a:p>
        </p:txBody>
      </p:sp>
      <p:sp>
        <p:nvSpPr>
          <p:cNvPr id="1048625" name="Shape 24"/>
          <p:cNvSpPr/>
          <p:nvPr/>
        </p:nvSpPr>
        <p:spPr>
          <a:xfrm>
            <a:off x="6126480" y="2148840"/>
            <a:ext cx="27432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26" name="Text 25"/>
          <p:cNvSpPr/>
          <p:nvPr/>
        </p:nvSpPr>
        <p:spPr>
          <a:xfrm>
            <a:off x="6126480" y="226771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dirty="0" sz="1100" lang="en-US"/>
          </a:p>
        </p:txBody>
      </p:sp>
      <p:sp>
        <p:nvSpPr>
          <p:cNvPr id="1048627" name="Text 26"/>
          <p:cNvSpPr/>
          <p:nvPr/>
        </p:nvSpPr>
        <p:spPr>
          <a:xfrm>
            <a:off x="6126480" y="290779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Components</a:t>
            </a:r>
            <a:endParaRPr dirty="0" sz="1100" lang="en-US"/>
          </a:p>
        </p:txBody>
      </p:sp>
      <p:sp>
        <p:nvSpPr>
          <p:cNvPr id="1048628" name="Text 27"/>
          <p:cNvSpPr/>
          <p:nvPr/>
        </p:nvSpPr>
        <p:spPr>
          <a:xfrm>
            <a:off x="6126480" y="354787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</a:t>
            </a:r>
            <a:endParaRPr dirty="0" sz="1100" lang="en-US"/>
          </a:p>
        </p:txBody>
      </p:sp>
      <p:sp>
        <p:nvSpPr>
          <p:cNvPr id="1048629" name="Text 28"/>
          <p:cNvSpPr/>
          <p:nvPr/>
        </p:nvSpPr>
        <p:spPr>
          <a:xfrm>
            <a:off x="6126480" y="418795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 Pipeline</a:t>
            </a:r>
            <a:endParaRPr dirty="0" sz="1100" lang="en-US"/>
          </a:p>
        </p:txBody>
      </p:sp>
      <p:sp>
        <p:nvSpPr>
          <p:cNvPr id="1048630" name="Text 29"/>
          <p:cNvSpPr/>
          <p:nvPr/>
        </p:nvSpPr>
        <p:spPr>
          <a:xfrm>
            <a:off x="6126480" y="482803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Protocols</a:t>
            </a:r>
            <a:endParaRPr dirty="0" sz="1100" lang="en-US"/>
          </a:p>
        </p:txBody>
      </p:sp>
      <p:sp>
        <p:nvSpPr>
          <p:cNvPr id="1048631" name="Shape 30"/>
          <p:cNvSpPr/>
          <p:nvPr/>
        </p:nvSpPr>
        <p:spPr>
          <a:xfrm>
            <a:off x="9006840" y="1298448"/>
            <a:ext cx="2743200" cy="347472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32" name="Text 31"/>
          <p:cNvSpPr/>
          <p:nvPr/>
        </p:nvSpPr>
        <p:spPr>
          <a:xfrm>
            <a:off x="9052560" y="1298448"/>
            <a:ext cx="26517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IV</a:t>
            </a:r>
            <a:endParaRPr dirty="0" sz="1300" lang="en-US"/>
          </a:p>
        </p:txBody>
      </p:sp>
      <p:sp>
        <p:nvSpPr>
          <p:cNvPr id="1048633" name="Text 32"/>
          <p:cNvSpPr/>
          <p:nvPr/>
        </p:nvSpPr>
        <p:spPr>
          <a:xfrm>
            <a:off x="9006840" y="1737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Conclusions</a:t>
            </a:r>
            <a:endParaRPr dirty="0" sz="1500" lang="en-US"/>
          </a:p>
        </p:txBody>
      </p:sp>
      <p:sp>
        <p:nvSpPr>
          <p:cNvPr id="1048634" name="Shape 33"/>
          <p:cNvSpPr/>
          <p:nvPr/>
        </p:nvSpPr>
        <p:spPr>
          <a:xfrm>
            <a:off x="9006840" y="2148840"/>
            <a:ext cx="27432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35" name="Text 34"/>
          <p:cNvSpPr/>
          <p:nvPr/>
        </p:nvSpPr>
        <p:spPr>
          <a:xfrm>
            <a:off x="9006840" y="226771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Performance Results</a:t>
            </a:r>
            <a:endParaRPr dirty="0" sz="1100" lang="en-US"/>
          </a:p>
        </p:txBody>
      </p:sp>
      <p:sp>
        <p:nvSpPr>
          <p:cNvPr id="1048636" name="Text 35"/>
          <p:cNvSpPr/>
          <p:nvPr/>
        </p:nvSpPr>
        <p:spPr>
          <a:xfrm>
            <a:off x="9006840" y="290779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Extraction Data</a:t>
            </a:r>
            <a:endParaRPr dirty="0" sz="1100" lang="en-US"/>
          </a:p>
        </p:txBody>
      </p:sp>
      <p:sp>
        <p:nvSpPr>
          <p:cNvPr id="1048637" name="Text 36"/>
          <p:cNvSpPr/>
          <p:nvPr/>
        </p:nvSpPr>
        <p:spPr>
          <a:xfrm>
            <a:off x="9006840" y="354787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Functionality</a:t>
            </a:r>
            <a:endParaRPr dirty="0" sz="1100" lang="en-US"/>
          </a:p>
        </p:txBody>
      </p:sp>
      <p:sp>
        <p:nvSpPr>
          <p:cNvPr id="1048638" name="Text 37"/>
          <p:cNvSpPr/>
          <p:nvPr/>
        </p:nvSpPr>
        <p:spPr>
          <a:xfrm>
            <a:off x="9006840" y="418795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Effectiveness</a:t>
            </a:r>
            <a:endParaRPr dirty="0" sz="1100" lang="en-US"/>
          </a:p>
        </p:txBody>
      </p:sp>
      <p:sp>
        <p:nvSpPr>
          <p:cNvPr id="1048639" name="Text 38"/>
          <p:cNvSpPr/>
          <p:nvPr/>
        </p:nvSpPr>
        <p:spPr>
          <a:xfrm>
            <a:off x="9006840" y="4828032"/>
            <a:ext cx="2834640" cy="56692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dirty="0" sz="1100" lang="en-US"/>
          </a:p>
        </p:txBody>
      </p:sp>
      <p:sp>
        <p:nvSpPr>
          <p:cNvPr id="1048640" name="Text 39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— INTRODUCTION</a:t>
            </a:r>
            <a:endParaRPr dirty="0" sz="1100" lang="en-US"/>
          </a:p>
        </p:txBody>
      </p:sp>
      <p:sp>
        <p:nvSpPr>
          <p:cNvPr id="1048645" name="Text 1"/>
          <p:cNvSpPr/>
          <p:nvPr/>
        </p:nvSpPr>
        <p:spPr>
          <a:xfrm>
            <a:off x="365760" y="457200"/>
            <a:ext cx="731520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dirty="0" sz="2800" lang="en-US"/>
          </a:p>
        </p:txBody>
      </p:sp>
      <p:sp>
        <p:nvSpPr>
          <p:cNvPr id="1048646" name="Shape 2"/>
          <p:cNvSpPr/>
          <p:nvPr/>
        </p:nvSpPr>
        <p:spPr>
          <a:xfrm>
            <a:off x="365760" y="1115568"/>
            <a:ext cx="713232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47" name="Text 3"/>
          <p:cNvSpPr/>
          <p:nvPr/>
        </p:nvSpPr>
        <p:spPr>
          <a:xfrm>
            <a:off x="365760" y="1234440"/>
            <a:ext cx="713232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are critical infrastructure in the Philippines — highly exposed to earthquakes, typhoons, flooding, and soil erosion. Structural deterioration must be detected early to prevent catastrophic failure.</a:t>
            </a:r>
            <a:endParaRPr dirty="0" sz="1200" lang="en-US"/>
          </a:p>
        </p:txBody>
      </p:sp>
      <p:sp>
        <p:nvSpPr>
          <p:cNvPr id="1048648" name="Shape 4"/>
          <p:cNvSpPr/>
          <p:nvPr/>
        </p:nvSpPr>
        <p:spPr>
          <a:xfrm>
            <a:off x="365760" y="2176272"/>
            <a:ext cx="68580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49" name="Text 5"/>
          <p:cNvSpPr/>
          <p:nvPr/>
        </p:nvSpPr>
        <p:spPr>
          <a:xfrm>
            <a:off x="365760" y="2286000"/>
            <a:ext cx="713232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Structural Health Monitoring (SHM) is a reliable method for detecting structural changes. Natural and resonant frequencies shift measurably when damage such as cracks, corrosion, or joint degradation occurs.</a:t>
            </a:r>
            <a:endParaRPr dirty="0" sz="1200" lang="en-US"/>
          </a:p>
        </p:txBody>
      </p:sp>
      <p:sp>
        <p:nvSpPr>
          <p:cNvPr id="1048650" name="Shape 6"/>
          <p:cNvSpPr/>
          <p:nvPr/>
        </p:nvSpPr>
        <p:spPr>
          <a:xfrm>
            <a:off x="365760" y="3227832"/>
            <a:ext cx="68580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51" name="Text 7"/>
          <p:cNvSpPr/>
          <p:nvPr/>
        </p:nvSpPr>
        <p:spPr>
          <a:xfrm>
            <a:off x="365760" y="3337560"/>
            <a:ext cx="713232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SHM systems in the Philippines rely on costly imported technologies, limiting deployment to large-scale projects. Many bridges depend on periodic visual inspections that miss early-stage deterioration.</a:t>
            </a:r>
            <a:endParaRPr dirty="0" sz="1200" lang="en-US"/>
          </a:p>
        </p:txBody>
      </p:sp>
      <p:sp>
        <p:nvSpPr>
          <p:cNvPr id="1048652" name="Shape 8"/>
          <p:cNvSpPr/>
          <p:nvPr/>
        </p:nvSpPr>
        <p:spPr>
          <a:xfrm>
            <a:off x="365760" y="4279392"/>
            <a:ext cx="68580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53" name="Text 9"/>
          <p:cNvSpPr/>
          <p:nvPr/>
        </p:nvSpPr>
        <p:spPr>
          <a:xfrm>
            <a:off x="365760" y="4389120"/>
            <a:ext cx="713232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develops a localized, real-time frequency monitoring system using MEMS IMU sensors and an ESP32-S3 — cost-efficient, portable, and designed for Philippine bridge conditions.</a:t>
            </a:r>
            <a:endParaRPr dirty="0" sz="1200" lang="en-US"/>
          </a:p>
        </p:txBody>
      </p:sp>
      <p:sp>
        <p:nvSpPr>
          <p:cNvPr id="1048654" name="Shape 10"/>
          <p:cNvSpPr/>
          <p:nvPr/>
        </p:nvSpPr>
        <p:spPr>
          <a:xfrm>
            <a:off x="8869680" y="411480"/>
            <a:ext cx="3017520" cy="128016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55" name="Text 11"/>
          <p:cNvSpPr/>
          <p:nvPr/>
        </p:nvSpPr>
        <p:spPr>
          <a:xfrm>
            <a:off x="8915400" y="484632"/>
            <a:ext cx="2926080" cy="665683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LOW</a:t>
            </a:r>
            <a:endParaRPr dirty="0" sz="3200" lang="en-US"/>
          </a:p>
        </p:txBody>
      </p:sp>
      <p:sp>
        <p:nvSpPr>
          <p:cNvPr id="1048656" name="Text 12"/>
          <p:cNvSpPr/>
          <p:nvPr/>
        </p:nvSpPr>
        <p:spPr>
          <a:xfrm>
            <a:off x="8915400" y="1153973"/>
            <a:ext cx="2926080" cy="473659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Imported SHM Systems</a:t>
            </a:r>
            <a:endParaRPr dirty="0" sz="900" lang="en-US"/>
          </a:p>
        </p:txBody>
      </p:sp>
      <p:sp>
        <p:nvSpPr>
          <p:cNvPr id="1048657" name="Shape 13"/>
          <p:cNvSpPr/>
          <p:nvPr/>
        </p:nvSpPr>
        <p:spPr>
          <a:xfrm>
            <a:off x="8869680" y="1783080"/>
            <a:ext cx="3017520" cy="128016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58" name="Text 14"/>
          <p:cNvSpPr/>
          <p:nvPr/>
        </p:nvSpPr>
        <p:spPr>
          <a:xfrm>
            <a:off x="8915400" y="1856232"/>
            <a:ext cx="2926080" cy="665683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</a:t>
            </a:r>
            <a:endParaRPr dirty="0" sz="3200" lang="en-US"/>
          </a:p>
        </p:txBody>
      </p:sp>
      <p:sp>
        <p:nvSpPr>
          <p:cNvPr id="1048659" name="Text 15"/>
          <p:cNvSpPr/>
          <p:nvPr/>
        </p:nvSpPr>
        <p:spPr>
          <a:xfrm>
            <a:off x="8915400" y="2525573"/>
            <a:ext cx="2926080" cy="473659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Vibration Sensing Per Node</a:t>
            </a:r>
            <a:endParaRPr dirty="0" sz="900" lang="en-US"/>
          </a:p>
        </p:txBody>
      </p:sp>
      <p:sp>
        <p:nvSpPr>
          <p:cNvPr id="1048660" name="Shape 16"/>
          <p:cNvSpPr/>
          <p:nvPr/>
        </p:nvSpPr>
        <p:spPr>
          <a:xfrm>
            <a:off x="8869680" y="3154680"/>
            <a:ext cx="3017520" cy="128016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61" name="Text 17"/>
          <p:cNvSpPr/>
          <p:nvPr/>
        </p:nvSpPr>
        <p:spPr>
          <a:xfrm>
            <a:off x="8915400" y="3227832"/>
            <a:ext cx="2926080" cy="665683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Hz</a:t>
            </a:r>
            <a:endParaRPr dirty="0" sz="3200" lang="en-US"/>
          </a:p>
        </p:txBody>
      </p:sp>
      <p:sp>
        <p:nvSpPr>
          <p:cNvPr id="1048662" name="Text 18"/>
          <p:cNvSpPr/>
          <p:nvPr/>
        </p:nvSpPr>
        <p:spPr>
          <a:xfrm>
            <a:off x="8915400" y="3897173"/>
            <a:ext cx="2926080" cy="473659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 (Nyquist: 83.5 Hz)</a:t>
            </a:r>
            <a:endParaRPr dirty="0" sz="900" lang="en-US"/>
          </a:p>
        </p:txBody>
      </p:sp>
      <p:sp>
        <p:nvSpPr>
          <p:cNvPr id="1048663" name="Shape 19"/>
          <p:cNvSpPr/>
          <p:nvPr/>
        </p:nvSpPr>
        <p:spPr>
          <a:xfrm>
            <a:off x="8869680" y="4526280"/>
            <a:ext cx="3017520" cy="128016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64" name="Text 20"/>
          <p:cNvSpPr/>
          <p:nvPr/>
        </p:nvSpPr>
        <p:spPr>
          <a:xfrm>
            <a:off x="8915400" y="4599432"/>
            <a:ext cx="2926080" cy="665683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1024-pt</a:t>
            </a:r>
            <a:endParaRPr dirty="0" sz="3200" lang="en-US"/>
          </a:p>
        </p:txBody>
      </p:sp>
      <p:sp>
        <p:nvSpPr>
          <p:cNvPr id="1048665" name="Text 21"/>
          <p:cNvSpPr/>
          <p:nvPr/>
        </p:nvSpPr>
        <p:spPr>
          <a:xfrm>
            <a:off x="8915400" y="5268773"/>
            <a:ext cx="2926080" cy="473659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Window with Hamming Windowing</a:t>
            </a:r>
            <a:endParaRPr dirty="0" sz="900" lang="en-US"/>
          </a:p>
        </p:txBody>
      </p:sp>
      <p:sp>
        <p:nvSpPr>
          <p:cNvPr id="1048666" name="Text 22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F72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— INTRODUCTION</a:t>
            </a:r>
            <a:endParaRPr dirty="0" sz="1100" lang="en-US"/>
          </a:p>
        </p:txBody>
      </p:sp>
      <p:sp>
        <p:nvSpPr>
          <p:cNvPr id="1048671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 &amp; Objectives</a:t>
            </a:r>
            <a:endParaRPr dirty="0" sz="2800" lang="en-US"/>
          </a:p>
        </p:txBody>
      </p:sp>
      <p:sp>
        <p:nvSpPr>
          <p:cNvPr id="1048672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673" name="Shape 3"/>
          <p:cNvSpPr/>
          <p:nvPr/>
        </p:nvSpPr>
        <p:spPr>
          <a:xfrm>
            <a:off x="365760" y="1234440"/>
            <a:ext cx="5394960" cy="347472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74" name="Text 4"/>
          <p:cNvSpPr/>
          <p:nvPr/>
        </p:nvSpPr>
        <p:spPr>
          <a:xfrm>
            <a:off x="365760" y="1234440"/>
            <a:ext cx="53949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dirty="0" sz="1200" lang="en-US"/>
          </a:p>
        </p:txBody>
      </p:sp>
      <p:sp>
        <p:nvSpPr>
          <p:cNvPr id="1048675" name="Shape 5"/>
          <p:cNvSpPr/>
          <p:nvPr/>
        </p:nvSpPr>
        <p:spPr>
          <a:xfrm>
            <a:off x="6309360" y="1234440"/>
            <a:ext cx="5486400" cy="347472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76" name="Text 6"/>
          <p:cNvSpPr/>
          <p:nvPr/>
        </p:nvSpPr>
        <p:spPr>
          <a:xfrm>
            <a:off x="6309360" y="1234440"/>
            <a:ext cx="54864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OBJECTIVES</a:t>
            </a:r>
            <a:endParaRPr dirty="0" sz="1200" lang="en-US"/>
          </a:p>
        </p:txBody>
      </p:sp>
      <p:sp>
        <p:nvSpPr>
          <p:cNvPr id="1048677" name="Shape 7"/>
          <p:cNvSpPr/>
          <p:nvPr/>
        </p:nvSpPr>
        <p:spPr>
          <a:xfrm>
            <a:off x="365760" y="1719072"/>
            <a:ext cx="347472" cy="347472"/>
          </a:xfrm>
          <a:prstGeom prst="ellipse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78" name="Text 8"/>
          <p:cNvSpPr/>
          <p:nvPr/>
        </p:nvSpPr>
        <p:spPr>
          <a:xfrm>
            <a:off x="365760" y="1728216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dirty="0" sz="1300" lang="en-US"/>
          </a:p>
        </p:txBody>
      </p:sp>
      <p:sp>
        <p:nvSpPr>
          <p:cNvPr id="1048679" name="Text 9"/>
          <p:cNvSpPr/>
          <p:nvPr/>
        </p:nvSpPr>
        <p:spPr>
          <a:xfrm>
            <a:off x="804672" y="1700784"/>
            <a:ext cx="484632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device can be developed for monitoring the structural health of a bridge through vibration analysis?</a:t>
            </a:r>
            <a:endParaRPr dirty="0" sz="1100" lang="en-US"/>
          </a:p>
        </p:txBody>
      </p:sp>
      <p:sp>
        <p:nvSpPr>
          <p:cNvPr id="1048680" name="Shape 10"/>
          <p:cNvSpPr/>
          <p:nvPr/>
        </p:nvSpPr>
        <p:spPr>
          <a:xfrm>
            <a:off x="365760" y="2834640"/>
            <a:ext cx="347472" cy="347472"/>
          </a:xfrm>
          <a:prstGeom prst="ellipse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81" name="Text 11"/>
          <p:cNvSpPr/>
          <p:nvPr/>
        </p:nvSpPr>
        <p:spPr>
          <a:xfrm>
            <a:off x="365760" y="2843784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dirty="0" sz="1300" lang="en-US"/>
          </a:p>
        </p:txBody>
      </p:sp>
      <p:sp>
        <p:nvSpPr>
          <p:cNvPr id="1048682" name="Text 12"/>
          <p:cNvSpPr/>
          <p:nvPr/>
        </p:nvSpPr>
        <p:spPr>
          <a:xfrm>
            <a:off x="804672" y="2816352"/>
            <a:ext cx="484632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resonance frequency be extracted from bridge vibration signals despite the presence of noise and unwanted frequency components?</a:t>
            </a:r>
            <a:endParaRPr dirty="0" sz="1100" lang="en-US"/>
          </a:p>
        </p:txBody>
      </p:sp>
      <p:sp>
        <p:nvSpPr>
          <p:cNvPr id="1048683" name="Shape 13"/>
          <p:cNvSpPr/>
          <p:nvPr/>
        </p:nvSpPr>
        <p:spPr>
          <a:xfrm>
            <a:off x="365760" y="3950208"/>
            <a:ext cx="347472" cy="347472"/>
          </a:xfrm>
          <a:prstGeom prst="ellipse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84" name="Text 14"/>
          <p:cNvSpPr/>
          <p:nvPr/>
        </p:nvSpPr>
        <p:spPr>
          <a:xfrm>
            <a:off x="365760" y="3959352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dirty="0" sz="1300" lang="en-US"/>
          </a:p>
        </p:txBody>
      </p:sp>
      <p:sp>
        <p:nvSpPr>
          <p:cNvPr id="1048685" name="Text 15"/>
          <p:cNvSpPr/>
          <p:nvPr/>
        </p:nvSpPr>
        <p:spPr>
          <a:xfrm>
            <a:off x="804672" y="3931920"/>
            <a:ext cx="484632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developed device provide real-time monitoring and visualization of structural vibration behavior?</a:t>
            </a:r>
            <a:endParaRPr dirty="0" sz="1100" lang="en-US"/>
          </a:p>
        </p:txBody>
      </p:sp>
      <p:sp>
        <p:nvSpPr>
          <p:cNvPr id="1048686" name="Shape 16"/>
          <p:cNvSpPr/>
          <p:nvPr/>
        </p:nvSpPr>
        <p:spPr>
          <a:xfrm>
            <a:off x="365760" y="5065776"/>
            <a:ext cx="347472" cy="347472"/>
          </a:xfrm>
          <a:prstGeom prst="ellipse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687" name="Text 17"/>
          <p:cNvSpPr/>
          <p:nvPr/>
        </p:nvSpPr>
        <p:spPr>
          <a:xfrm>
            <a:off x="365760" y="5074920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dirty="0" sz="1300" lang="en-US"/>
          </a:p>
        </p:txBody>
      </p:sp>
      <p:sp>
        <p:nvSpPr>
          <p:cNvPr id="1048688" name="Text 18"/>
          <p:cNvSpPr/>
          <p:nvPr/>
        </p:nvSpPr>
        <p:spPr>
          <a:xfrm>
            <a:off x="804672" y="5047488"/>
            <a:ext cx="484632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is the developed device in detecting and representing vibration characteristics that may indicate possible structural anomalies?</a:t>
            </a:r>
            <a:endParaRPr dirty="0" sz="1100" lang="en-US"/>
          </a:p>
        </p:txBody>
      </p:sp>
      <p:sp>
        <p:nvSpPr>
          <p:cNvPr id="1048689" name="Shape 19"/>
          <p:cNvSpPr/>
          <p:nvPr/>
        </p:nvSpPr>
        <p:spPr>
          <a:xfrm>
            <a:off x="6309360" y="1719072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90" name="Text 20"/>
          <p:cNvSpPr/>
          <p:nvPr/>
        </p:nvSpPr>
        <p:spPr>
          <a:xfrm>
            <a:off x="6309360" y="1728216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300" lang="en-US"/>
          </a:p>
        </p:txBody>
      </p:sp>
      <p:sp>
        <p:nvSpPr>
          <p:cNvPr id="1048691" name="Text 21"/>
          <p:cNvSpPr/>
          <p:nvPr/>
        </p:nvSpPr>
        <p:spPr>
          <a:xfrm>
            <a:off x="6748272" y="1700784"/>
            <a:ext cx="493776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 frequency monitoring system using MEMS-based IMU sensors and ESP32-S3 microcontroller.</a:t>
            </a:r>
            <a:endParaRPr dirty="0" sz="1100" lang="en-US"/>
          </a:p>
        </p:txBody>
      </p:sp>
      <p:sp>
        <p:nvSpPr>
          <p:cNvPr id="1048692" name="Shape 22"/>
          <p:cNvSpPr/>
          <p:nvPr/>
        </p:nvSpPr>
        <p:spPr>
          <a:xfrm>
            <a:off x="6309360" y="2834640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93" name="Text 23"/>
          <p:cNvSpPr/>
          <p:nvPr/>
        </p:nvSpPr>
        <p:spPr>
          <a:xfrm>
            <a:off x="6309360" y="2843784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300" lang="en-US"/>
          </a:p>
        </p:txBody>
      </p:sp>
      <p:sp>
        <p:nvSpPr>
          <p:cNvPr id="1048694" name="Text 24"/>
          <p:cNvSpPr/>
          <p:nvPr/>
        </p:nvSpPr>
        <p:spPr>
          <a:xfrm>
            <a:off x="6748272" y="2816352"/>
            <a:ext cx="493776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vibration signals and extract natural and resonant frequencies using FFT-based signal processing techniques.</a:t>
            </a:r>
            <a:endParaRPr dirty="0" sz="1100" lang="en-US"/>
          </a:p>
        </p:txBody>
      </p:sp>
      <p:sp>
        <p:nvSpPr>
          <p:cNvPr id="1048695" name="Shape 25"/>
          <p:cNvSpPr/>
          <p:nvPr/>
        </p:nvSpPr>
        <p:spPr>
          <a:xfrm>
            <a:off x="6309360" y="3950208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96" name="Text 26"/>
          <p:cNvSpPr/>
          <p:nvPr/>
        </p:nvSpPr>
        <p:spPr>
          <a:xfrm>
            <a:off x="6309360" y="3959352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300" lang="en-US"/>
          </a:p>
        </p:txBody>
      </p:sp>
      <p:sp>
        <p:nvSpPr>
          <p:cNvPr id="1048697" name="Text 27"/>
          <p:cNvSpPr/>
          <p:nvPr/>
        </p:nvSpPr>
        <p:spPr>
          <a:xfrm>
            <a:off x="6748272" y="3931920"/>
            <a:ext cx="493776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real-time visualization interface for monitoring frequency behavior via a web-based dashboard.</a:t>
            </a:r>
            <a:endParaRPr dirty="0" sz="1100" lang="en-US"/>
          </a:p>
        </p:txBody>
      </p:sp>
      <p:sp>
        <p:nvSpPr>
          <p:cNvPr id="1048698" name="Shape 28"/>
          <p:cNvSpPr/>
          <p:nvPr/>
        </p:nvSpPr>
        <p:spPr>
          <a:xfrm>
            <a:off x="6309360" y="5065776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699" name="Text 29"/>
          <p:cNvSpPr/>
          <p:nvPr/>
        </p:nvSpPr>
        <p:spPr>
          <a:xfrm>
            <a:off x="6309360" y="5074920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300" lang="en-US"/>
          </a:p>
        </p:txBody>
      </p:sp>
      <p:sp>
        <p:nvSpPr>
          <p:cNvPr id="1048700" name="Text 30"/>
          <p:cNvSpPr/>
          <p:nvPr/>
        </p:nvSpPr>
        <p:spPr>
          <a:xfrm>
            <a:off x="6748272" y="5047488"/>
            <a:ext cx="493776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system performance in detecting frequency variations that may indicate structural anomalies in bridge structures.</a:t>
            </a:r>
            <a:endParaRPr dirty="0" sz="1100" lang="en-US"/>
          </a:p>
        </p:txBody>
      </p:sp>
      <p:sp>
        <p:nvSpPr>
          <p:cNvPr id="1048701" name="Text 31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F72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— INTRODUCTION</a:t>
            </a:r>
            <a:endParaRPr dirty="0" sz="1100" lang="en-US"/>
          </a:p>
        </p:txBody>
      </p:sp>
      <p:sp>
        <p:nvSpPr>
          <p:cNvPr id="1048706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 — IPO Model</a:t>
            </a:r>
            <a:endParaRPr dirty="0" sz="2800" lang="en-US"/>
          </a:p>
        </p:txBody>
      </p:sp>
      <p:sp>
        <p:nvSpPr>
          <p:cNvPr id="1048707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08" name="Shape 3"/>
          <p:cNvSpPr/>
          <p:nvPr/>
        </p:nvSpPr>
        <p:spPr>
          <a:xfrm>
            <a:off x="365760" y="1261872"/>
            <a:ext cx="3474720" cy="384048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709" name="Text 4"/>
          <p:cNvSpPr/>
          <p:nvPr/>
        </p:nvSpPr>
        <p:spPr>
          <a:xfrm>
            <a:off x="365760" y="1261872"/>
            <a:ext cx="347472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dirty="0" sz="1500" lang="en-US"/>
          </a:p>
        </p:txBody>
      </p:sp>
      <p:sp>
        <p:nvSpPr>
          <p:cNvPr id="1048710" name="Shape 5"/>
          <p:cNvSpPr/>
          <p:nvPr/>
        </p:nvSpPr>
        <p:spPr>
          <a:xfrm>
            <a:off x="365760" y="1719072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11" name="Text 6"/>
          <p:cNvSpPr/>
          <p:nvPr/>
        </p:nvSpPr>
        <p:spPr>
          <a:xfrm>
            <a:off x="457200" y="1737360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Structural Vibrations</a:t>
            </a:r>
            <a:endParaRPr dirty="0" sz="1100" lang="en-US"/>
          </a:p>
        </p:txBody>
      </p:sp>
      <p:sp>
        <p:nvSpPr>
          <p:cNvPr id="1048712" name="Shape 7"/>
          <p:cNvSpPr/>
          <p:nvPr/>
        </p:nvSpPr>
        <p:spPr>
          <a:xfrm>
            <a:off x="365760" y="2468880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13" name="Text 8"/>
          <p:cNvSpPr/>
          <p:nvPr/>
        </p:nvSpPr>
        <p:spPr>
          <a:xfrm>
            <a:off x="457200" y="2487168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Loads (Traffic, Wind, Environmental)</a:t>
            </a:r>
            <a:endParaRPr dirty="0" sz="1100" lang="en-US"/>
          </a:p>
        </p:txBody>
      </p:sp>
      <p:sp>
        <p:nvSpPr>
          <p:cNvPr id="1048714" name="Shape 9"/>
          <p:cNvSpPr/>
          <p:nvPr/>
        </p:nvSpPr>
        <p:spPr>
          <a:xfrm>
            <a:off x="365760" y="3218688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15" name="Text 10"/>
          <p:cNvSpPr/>
          <p:nvPr/>
        </p:nvSpPr>
        <p:spPr>
          <a:xfrm>
            <a:off x="457200" y="3236976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Triaxial Acceleration Data (X, Y, Z)</a:t>
            </a:r>
            <a:endParaRPr dirty="0" sz="1100" lang="en-US"/>
          </a:p>
        </p:txBody>
      </p:sp>
      <p:sp>
        <p:nvSpPr>
          <p:cNvPr id="1048716" name="Shape 11"/>
          <p:cNvSpPr/>
          <p:nvPr/>
        </p:nvSpPr>
        <p:spPr>
          <a:xfrm>
            <a:off x="365760" y="3968496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17" name="Text 12"/>
          <p:cNvSpPr/>
          <p:nvPr/>
        </p:nvSpPr>
        <p:spPr>
          <a:xfrm>
            <a:off x="457200" y="3986784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IMU Signals from MPU-6050 Sensors</a:t>
            </a:r>
            <a:endParaRPr dirty="0" sz="1100" lang="en-US"/>
          </a:p>
        </p:txBody>
      </p:sp>
      <p:sp>
        <p:nvSpPr>
          <p:cNvPr id="1048718" name="Shape 13"/>
          <p:cNvSpPr/>
          <p:nvPr/>
        </p:nvSpPr>
        <p:spPr>
          <a:xfrm>
            <a:off x="365760" y="4718304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19" name="Text 14"/>
          <p:cNvSpPr/>
          <p:nvPr/>
        </p:nvSpPr>
        <p:spPr>
          <a:xfrm>
            <a:off x="457200" y="4736592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Excitation Forces</a:t>
            </a:r>
            <a:endParaRPr dirty="0" sz="1100" lang="en-US"/>
          </a:p>
        </p:txBody>
      </p:sp>
      <p:sp>
        <p:nvSpPr>
          <p:cNvPr id="1048720" name="Text 15"/>
          <p:cNvSpPr/>
          <p:nvPr/>
        </p:nvSpPr>
        <p:spPr>
          <a:xfrm>
            <a:off x="3886200" y="2834640"/>
            <a:ext cx="292608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000" lang="en-US"/>
          </a:p>
        </p:txBody>
      </p:sp>
      <p:sp>
        <p:nvSpPr>
          <p:cNvPr id="1048721" name="Shape 16"/>
          <p:cNvSpPr/>
          <p:nvPr/>
        </p:nvSpPr>
        <p:spPr>
          <a:xfrm>
            <a:off x="4206240" y="1261872"/>
            <a:ext cx="3474720" cy="384048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722" name="Text 17"/>
          <p:cNvSpPr/>
          <p:nvPr/>
        </p:nvSpPr>
        <p:spPr>
          <a:xfrm>
            <a:off x="4206240" y="1261872"/>
            <a:ext cx="347472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dirty="0" sz="1500" lang="en-US"/>
          </a:p>
        </p:txBody>
      </p:sp>
      <p:sp>
        <p:nvSpPr>
          <p:cNvPr id="1048723" name="Shape 18"/>
          <p:cNvSpPr/>
          <p:nvPr/>
        </p:nvSpPr>
        <p:spPr>
          <a:xfrm>
            <a:off x="4206240" y="1719072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24" name="Text 19"/>
          <p:cNvSpPr/>
          <p:nvPr/>
        </p:nvSpPr>
        <p:spPr>
          <a:xfrm>
            <a:off x="4297680" y="1737360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Calibration &amp; Offset Correction</a:t>
            </a:r>
            <a:endParaRPr dirty="0" sz="1100" lang="en-US"/>
          </a:p>
        </p:txBody>
      </p:sp>
      <p:sp>
        <p:nvSpPr>
          <p:cNvPr id="1048725" name="Shape 20"/>
          <p:cNvSpPr/>
          <p:nvPr/>
        </p:nvSpPr>
        <p:spPr>
          <a:xfrm>
            <a:off x="4206240" y="2468880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26" name="Text 21"/>
          <p:cNvSpPr/>
          <p:nvPr/>
        </p:nvSpPr>
        <p:spPr>
          <a:xfrm>
            <a:off x="4297680" y="2487168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Filter (MAF) Pre-Processing</a:t>
            </a:r>
            <a:endParaRPr dirty="0" sz="1100" lang="en-US"/>
          </a:p>
        </p:txBody>
      </p:sp>
      <p:sp>
        <p:nvSpPr>
          <p:cNvPr id="1048727" name="Shape 22"/>
          <p:cNvSpPr/>
          <p:nvPr/>
        </p:nvSpPr>
        <p:spPr>
          <a:xfrm>
            <a:off x="4206240" y="3218688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28" name="Text 23"/>
          <p:cNvSpPr/>
          <p:nvPr/>
        </p:nvSpPr>
        <p:spPr>
          <a:xfrm>
            <a:off x="4297680" y="3236976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Windowing Function</a:t>
            </a:r>
            <a:endParaRPr dirty="0" sz="1100" lang="en-US"/>
          </a:p>
        </p:txBody>
      </p:sp>
      <p:sp>
        <p:nvSpPr>
          <p:cNvPr id="1048729" name="Shape 24"/>
          <p:cNvSpPr/>
          <p:nvPr/>
        </p:nvSpPr>
        <p:spPr>
          <a:xfrm>
            <a:off x="4206240" y="3968496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30" name="Text 25"/>
          <p:cNvSpPr/>
          <p:nvPr/>
        </p:nvSpPr>
        <p:spPr>
          <a:xfrm>
            <a:off x="4297680" y="3986784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1024-Point FFT Computation</a:t>
            </a:r>
            <a:endParaRPr dirty="0" sz="1100" lang="en-US"/>
          </a:p>
        </p:txBody>
      </p:sp>
      <p:sp>
        <p:nvSpPr>
          <p:cNvPr id="1048731" name="Shape 26"/>
          <p:cNvSpPr/>
          <p:nvPr/>
        </p:nvSpPr>
        <p:spPr>
          <a:xfrm>
            <a:off x="4206240" y="4718304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32" name="Text 27"/>
          <p:cNvSpPr/>
          <p:nvPr/>
        </p:nvSpPr>
        <p:spPr>
          <a:xfrm>
            <a:off x="4297680" y="4736592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 Detection</a:t>
            </a:r>
            <a:endParaRPr dirty="0" sz="1100" lang="en-US"/>
          </a:p>
        </p:txBody>
      </p:sp>
      <p:sp>
        <p:nvSpPr>
          <p:cNvPr id="1048733" name="Shape 28"/>
          <p:cNvSpPr/>
          <p:nvPr/>
        </p:nvSpPr>
        <p:spPr>
          <a:xfrm>
            <a:off x="4206240" y="5468112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34" name="Text 29"/>
          <p:cNvSpPr/>
          <p:nvPr/>
        </p:nvSpPr>
        <p:spPr>
          <a:xfrm>
            <a:off x="4297680" y="5486400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Vibration Energy Calculation</a:t>
            </a:r>
            <a:endParaRPr dirty="0" sz="1100" lang="en-US"/>
          </a:p>
        </p:txBody>
      </p:sp>
      <p:sp>
        <p:nvSpPr>
          <p:cNvPr id="1048735" name="Text 30"/>
          <p:cNvSpPr/>
          <p:nvPr/>
        </p:nvSpPr>
        <p:spPr>
          <a:xfrm>
            <a:off x="7726680" y="2834640"/>
            <a:ext cx="292608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2000" lang="en-US"/>
          </a:p>
        </p:txBody>
      </p:sp>
      <p:sp>
        <p:nvSpPr>
          <p:cNvPr id="1048736" name="Shape 31"/>
          <p:cNvSpPr/>
          <p:nvPr/>
        </p:nvSpPr>
        <p:spPr>
          <a:xfrm>
            <a:off x="8046720" y="1261872"/>
            <a:ext cx="3474720" cy="384048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737" name="Text 32"/>
          <p:cNvSpPr/>
          <p:nvPr/>
        </p:nvSpPr>
        <p:spPr>
          <a:xfrm>
            <a:off x="8046720" y="1261872"/>
            <a:ext cx="347472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dirty="0" sz="1500" lang="en-US"/>
          </a:p>
        </p:txBody>
      </p:sp>
      <p:sp>
        <p:nvSpPr>
          <p:cNvPr id="1048738" name="Shape 33"/>
          <p:cNvSpPr/>
          <p:nvPr/>
        </p:nvSpPr>
        <p:spPr>
          <a:xfrm>
            <a:off x="8046720" y="1719072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39" name="Text 34"/>
          <p:cNvSpPr/>
          <p:nvPr/>
        </p:nvSpPr>
        <p:spPr>
          <a:xfrm>
            <a:off x="8138160" y="1737360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Resonance Frequency (Hz)</a:t>
            </a:r>
            <a:endParaRPr dirty="0" sz="1100" lang="en-US"/>
          </a:p>
        </p:txBody>
      </p:sp>
      <p:sp>
        <p:nvSpPr>
          <p:cNvPr id="1048740" name="Shape 35"/>
          <p:cNvSpPr/>
          <p:nvPr/>
        </p:nvSpPr>
        <p:spPr>
          <a:xfrm>
            <a:off x="8046720" y="2468880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41" name="Text 36"/>
          <p:cNvSpPr/>
          <p:nvPr/>
        </p:nvSpPr>
        <p:spPr>
          <a:xfrm>
            <a:off x="8138160" y="2487168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Vibration Intensity</a:t>
            </a:r>
            <a:endParaRPr dirty="0" sz="1100" lang="en-US"/>
          </a:p>
        </p:txBody>
      </p:sp>
      <p:sp>
        <p:nvSpPr>
          <p:cNvPr id="1048742" name="Shape 37"/>
          <p:cNvSpPr/>
          <p:nvPr/>
        </p:nvSpPr>
        <p:spPr>
          <a:xfrm>
            <a:off x="8046720" y="3218688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43" name="Text 38"/>
          <p:cNvSpPr/>
          <p:nvPr/>
        </p:nvSpPr>
        <p:spPr>
          <a:xfrm>
            <a:off x="8138160" y="3236976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Vibration Index</a:t>
            </a:r>
            <a:endParaRPr dirty="0" sz="1100" lang="en-US"/>
          </a:p>
        </p:txBody>
      </p:sp>
      <p:sp>
        <p:nvSpPr>
          <p:cNvPr id="1048744" name="Shape 39"/>
          <p:cNvSpPr/>
          <p:nvPr/>
        </p:nvSpPr>
        <p:spPr>
          <a:xfrm>
            <a:off x="8046720" y="3968496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45" name="Text 40"/>
          <p:cNvSpPr/>
          <p:nvPr/>
        </p:nvSpPr>
        <p:spPr>
          <a:xfrm>
            <a:off x="8138160" y="3986784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 / WARN / OK State Alerts</a:t>
            </a:r>
            <a:endParaRPr dirty="0" sz="1100" lang="en-US"/>
          </a:p>
        </p:txBody>
      </p:sp>
      <p:sp>
        <p:nvSpPr>
          <p:cNvPr id="1048746" name="Shape 41"/>
          <p:cNvSpPr/>
          <p:nvPr/>
        </p:nvSpPr>
        <p:spPr>
          <a:xfrm>
            <a:off x="8046720" y="4718304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47" name="Text 42"/>
          <p:cNvSpPr/>
          <p:nvPr/>
        </p:nvSpPr>
        <p:spPr>
          <a:xfrm>
            <a:off x="8138160" y="4736592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Visualization</a:t>
            </a:r>
            <a:endParaRPr dirty="0" sz="1100" lang="en-US"/>
          </a:p>
        </p:txBody>
      </p:sp>
      <p:sp>
        <p:nvSpPr>
          <p:cNvPr id="1048748" name="Shape 43"/>
          <p:cNvSpPr/>
          <p:nvPr/>
        </p:nvSpPr>
        <p:spPr>
          <a:xfrm>
            <a:off x="8046720" y="5468112"/>
            <a:ext cx="3474720" cy="658368"/>
          </a:xfrm>
          <a:prstGeom prst="rect"/>
          <a:solidFill>
            <a:srgbClr val="12344D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048749" name="Text 44"/>
          <p:cNvSpPr/>
          <p:nvPr/>
        </p:nvSpPr>
        <p:spPr>
          <a:xfrm>
            <a:off x="8138160" y="5486400"/>
            <a:ext cx="3291840" cy="62179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Log (LittleFS)</a:t>
            </a:r>
            <a:endParaRPr dirty="0" sz="1100" lang="en-US"/>
          </a:p>
        </p:txBody>
      </p:sp>
      <p:sp>
        <p:nvSpPr>
          <p:cNvPr id="1048750" name="Text 45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— INTRODUCTION</a:t>
            </a:r>
            <a:endParaRPr dirty="0" sz="1100" lang="en-US"/>
          </a:p>
        </p:txBody>
      </p:sp>
      <p:sp>
        <p:nvSpPr>
          <p:cNvPr id="1048755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Delimitations</a:t>
            </a:r>
            <a:endParaRPr dirty="0" sz="2800" lang="en-US"/>
          </a:p>
        </p:txBody>
      </p:sp>
      <p:sp>
        <p:nvSpPr>
          <p:cNvPr id="1048756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57" name="Text 3"/>
          <p:cNvSpPr/>
          <p:nvPr/>
        </p:nvSpPr>
        <p:spPr>
          <a:xfrm>
            <a:off x="365760" y="1261872"/>
            <a:ext cx="109728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3600" lang="en-US"/>
          </a:p>
        </p:txBody>
      </p:sp>
      <p:sp>
        <p:nvSpPr>
          <p:cNvPr id="1048758" name="Text 4"/>
          <p:cNvSpPr/>
          <p:nvPr/>
        </p:nvSpPr>
        <p:spPr>
          <a:xfrm>
            <a:off x="365760" y="1901952"/>
            <a:ext cx="35661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Coverage &amp; Environment</a:t>
            </a:r>
            <a:endParaRPr dirty="0" sz="1400" lang="en-US"/>
          </a:p>
        </p:txBody>
      </p:sp>
      <p:sp>
        <p:nvSpPr>
          <p:cNvPr id="1048759" name="Shape 5"/>
          <p:cNvSpPr/>
          <p:nvPr/>
        </p:nvSpPr>
        <p:spPr>
          <a:xfrm>
            <a:off x="365760" y="2322576"/>
            <a:ext cx="35661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60" name="Text 6"/>
          <p:cNvSpPr/>
          <p:nvPr/>
        </p:nvSpPr>
        <p:spPr>
          <a:xfrm>
            <a:off x="365760" y="2423160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frequency-based SHM — vibration signal acquisition, FFT processing, and frequency extraction</a:t>
            </a:r>
            <a:endParaRPr dirty="0" sz="1100" lang="en-US"/>
          </a:p>
        </p:txBody>
      </p:sp>
      <p:sp>
        <p:nvSpPr>
          <p:cNvPr id="1048761" name="Text 7"/>
          <p:cNvSpPr/>
          <p:nvPr/>
        </p:nvSpPr>
        <p:spPr>
          <a:xfrm>
            <a:off x="365760" y="3319272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ESP32-S3 microcontroller + 3x MPU-6050 IMU sensors on a custom PCB</a:t>
            </a:r>
            <a:endParaRPr dirty="0" sz="1100" lang="en-US"/>
          </a:p>
        </p:txBody>
      </p:sp>
      <p:sp>
        <p:nvSpPr>
          <p:cNvPr id="1048762" name="Text 8"/>
          <p:cNvSpPr/>
          <p:nvPr/>
        </p:nvSpPr>
        <p:spPr>
          <a:xfrm>
            <a:off x="365760" y="4215384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performed in a laboratory-controlled environment at CSU–Carig Campus (AY 2024–2025)</a:t>
            </a:r>
            <a:endParaRPr dirty="0" sz="1100" lang="en-US"/>
          </a:p>
        </p:txBody>
      </p:sp>
      <p:sp>
        <p:nvSpPr>
          <p:cNvPr id="1048763" name="Text 9"/>
          <p:cNvSpPr/>
          <p:nvPr/>
        </p:nvSpPr>
        <p:spPr>
          <a:xfrm>
            <a:off x="365760" y="5111496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limited to small-scale structural test bed — not deployed on an actual full-scale bridge</a:t>
            </a:r>
            <a:endParaRPr dirty="0" sz="1100" lang="en-US"/>
          </a:p>
        </p:txBody>
      </p:sp>
      <p:sp>
        <p:nvSpPr>
          <p:cNvPr id="1048764" name="Text 10"/>
          <p:cNvSpPr/>
          <p:nvPr/>
        </p:nvSpPr>
        <p:spPr>
          <a:xfrm>
            <a:off x="4297680" y="1261872"/>
            <a:ext cx="109728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3600" lang="en-US"/>
          </a:p>
        </p:txBody>
      </p:sp>
      <p:sp>
        <p:nvSpPr>
          <p:cNvPr id="1048765" name="Text 11"/>
          <p:cNvSpPr/>
          <p:nvPr/>
        </p:nvSpPr>
        <p:spPr>
          <a:xfrm>
            <a:off x="4297680" y="1901952"/>
            <a:ext cx="35661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Constraints</a:t>
            </a:r>
            <a:endParaRPr dirty="0" sz="1400" lang="en-US"/>
          </a:p>
        </p:txBody>
      </p:sp>
      <p:sp>
        <p:nvSpPr>
          <p:cNvPr id="1048766" name="Shape 12"/>
          <p:cNvSpPr/>
          <p:nvPr/>
        </p:nvSpPr>
        <p:spPr>
          <a:xfrm>
            <a:off x="4297680" y="2322576"/>
            <a:ext cx="35661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67" name="Text 13"/>
          <p:cNvSpPr/>
          <p:nvPr/>
        </p:nvSpPr>
        <p:spPr>
          <a:xfrm>
            <a:off x="4297680" y="2423160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constraints include processing speed, memory capacity, and MPU-6050 sensor resolution</a:t>
            </a:r>
            <a:endParaRPr dirty="0" sz="1100" lang="en-US"/>
          </a:p>
        </p:txBody>
      </p:sp>
      <p:sp>
        <p:nvSpPr>
          <p:cNvPr id="1048768" name="Text 14"/>
          <p:cNvSpPr/>
          <p:nvPr/>
        </p:nvSpPr>
        <p:spPr>
          <a:xfrm>
            <a:off x="4297680" y="3319272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rate: 167 Hz — Nyquist limit of 83.5 Hz; suitable for 2–80 Hz bridge vibration modes</a:t>
            </a:r>
            <a:endParaRPr dirty="0" sz="1100" lang="en-US"/>
          </a:p>
        </p:txBody>
      </p:sp>
      <p:sp>
        <p:nvSpPr>
          <p:cNvPr id="1048769" name="Text 15"/>
          <p:cNvSpPr/>
          <p:nvPr/>
        </p:nvSpPr>
        <p:spPr>
          <a:xfrm>
            <a:off x="4297680" y="4215384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factors (temperature, humidity, EMI) not fully incorporated into the analysis</a:t>
            </a:r>
            <a:endParaRPr dirty="0" sz="1100" lang="en-US"/>
          </a:p>
        </p:txBody>
      </p:sp>
      <p:sp>
        <p:nvSpPr>
          <p:cNvPr id="1048770" name="Text 16"/>
          <p:cNvSpPr/>
          <p:nvPr/>
        </p:nvSpPr>
        <p:spPr>
          <a:xfrm>
            <a:off x="4297680" y="5111496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outputs frequency data but does not perform structural diagnosis or predict failure</a:t>
            </a:r>
            <a:endParaRPr dirty="0" sz="1100" lang="en-US"/>
          </a:p>
        </p:txBody>
      </p:sp>
      <p:sp>
        <p:nvSpPr>
          <p:cNvPr id="1048771" name="Text 17"/>
          <p:cNvSpPr/>
          <p:nvPr/>
        </p:nvSpPr>
        <p:spPr>
          <a:xfrm>
            <a:off x="8229600" y="1261872"/>
            <a:ext cx="109728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3600" lang="en-US"/>
          </a:p>
        </p:txBody>
      </p:sp>
      <p:sp>
        <p:nvSpPr>
          <p:cNvPr id="1048772" name="Text 18"/>
          <p:cNvSpPr/>
          <p:nvPr/>
        </p:nvSpPr>
        <p:spPr>
          <a:xfrm>
            <a:off x="8229600" y="1901952"/>
            <a:ext cx="356616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</a:t>
            </a:r>
            <a:endParaRPr dirty="0" sz="1400" lang="en-US"/>
          </a:p>
        </p:txBody>
      </p:sp>
      <p:sp>
        <p:nvSpPr>
          <p:cNvPr id="1048773" name="Shape 19"/>
          <p:cNvSpPr/>
          <p:nvPr/>
        </p:nvSpPr>
        <p:spPr>
          <a:xfrm>
            <a:off x="8229600" y="2322576"/>
            <a:ext cx="35661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74" name="Text 20"/>
          <p:cNvSpPr/>
          <p:nvPr/>
        </p:nvSpPr>
        <p:spPr>
          <a:xfrm>
            <a:off x="8229600" y="2423160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load analysis, predictive modeling, and repair recommendations are excluded</a:t>
            </a:r>
            <a:endParaRPr dirty="0" sz="1100" lang="en-US"/>
          </a:p>
        </p:txBody>
      </p:sp>
      <p:sp>
        <p:nvSpPr>
          <p:cNvPr id="1048775" name="Text 21"/>
          <p:cNvSpPr/>
          <p:nvPr/>
        </p:nvSpPr>
        <p:spPr>
          <a:xfrm>
            <a:off x="8229600" y="3319272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full-scale field deployment; validation confined to controlled prototype testing</a:t>
            </a:r>
            <a:endParaRPr dirty="0" sz="1100" lang="en-US"/>
          </a:p>
        </p:txBody>
      </p:sp>
      <p:sp>
        <p:nvSpPr>
          <p:cNvPr id="1048776" name="Text 22"/>
          <p:cNvSpPr/>
          <p:nvPr/>
        </p:nvSpPr>
        <p:spPr>
          <a:xfrm>
            <a:off x="8229600" y="4215384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Multi-bridge or multi-node IoT network deployment is outside the current scope</a:t>
            </a:r>
            <a:endParaRPr dirty="0" sz="1100" lang="en-US"/>
          </a:p>
        </p:txBody>
      </p:sp>
      <p:sp>
        <p:nvSpPr>
          <p:cNvPr id="1048777" name="Text 23"/>
          <p:cNvSpPr/>
          <p:nvPr/>
        </p:nvSpPr>
        <p:spPr>
          <a:xfrm>
            <a:off x="8229600" y="5111496"/>
            <a:ext cx="3611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evaluation limited to system functionality testing — no formal jury survey conducted</a:t>
            </a:r>
            <a:endParaRPr dirty="0" sz="1100" lang="en-US"/>
          </a:p>
        </p:txBody>
      </p:sp>
      <p:sp>
        <p:nvSpPr>
          <p:cNvPr id="1048778" name="Text 24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— INTRODUCTION</a:t>
            </a:r>
            <a:endParaRPr dirty="0" sz="1100" lang="en-US"/>
          </a:p>
        </p:txBody>
      </p:sp>
      <p:sp>
        <p:nvSpPr>
          <p:cNvPr id="1048783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dirty="0" sz="2800" lang="en-US"/>
          </a:p>
        </p:txBody>
      </p:sp>
      <p:sp>
        <p:nvSpPr>
          <p:cNvPr id="1048784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85" name="Text 3"/>
          <p:cNvSpPr/>
          <p:nvPr/>
        </p:nvSpPr>
        <p:spPr>
          <a:xfrm>
            <a:off x="365760" y="1261872"/>
            <a:ext cx="10058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3600" lang="en-US"/>
          </a:p>
        </p:txBody>
      </p:sp>
      <p:sp>
        <p:nvSpPr>
          <p:cNvPr id="1048786" name="Text 4"/>
          <p:cNvSpPr/>
          <p:nvPr/>
        </p:nvSpPr>
        <p:spPr>
          <a:xfrm>
            <a:off x="1463040" y="1261872"/>
            <a:ext cx="4480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&amp; Technical Contribution</a:t>
            </a:r>
            <a:endParaRPr dirty="0" sz="1400" lang="en-US"/>
          </a:p>
        </p:txBody>
      </p:sp>
      <p:sp>
        <p:nvSpPr>
          <p:cNvPr id="1048787" name="Shape 5"/>
          <p:cNvSpPr/>
          <p:nvPr/>
        </p:nvSpPr>
        <p:spPr>
          <a:xfrm>
            <a:off x="365760" y="1920240"/>
            <a:ext cx="557784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88" name="Text 6"/>
          <p:cNvSpPr/>
          <p:nvPr/>
        </p:nvSpPr>
        <p:spPr>
          <a:xfrm>
            <a:off x="365760" y="2029968"/>
            <a:ext cx="55778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develops a cost-effective, localized SHM system using accessible MEMS technology and the ESP32-S3 platform — providing a practical alternative to expensive imported solutions. The integration of 1024-point Hamming-windowed FFT, FreeRTOS dual-core scheduling, and real-time web visualization demonstrates a full-stack embedded IoT approach to bridge monitoring.</a:t>
            </a:r>
            <a:endParaRPr dirty="0" sz="1100" lang="en-US"/>
          </a:p>
        </p:txBody>
      </p:sp>
      <p:sp>
        <p:nvSpPr>
          <p:cNvPr id="1048789" name="Text 7"/>
          <p:cNvSpPr/>
          <p:nvPr/>
        </p:nvSpPr>
        <p:spPr>
          <a:xfrm>
            <a:off x="365760" y="2926080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detection of structural anomalies through continuous resonance frequency tracking</a:t>
            </a:r>
            <a:endParaRPr dirty="0" sz="1100" lang="en-US"/>
          </a:p>
        </p:txBody>
      </p:sp>
      <p:sp>
        <p:nvSpPr>
          <p:cNvPr id="1048790" name="Text 8"/>
          <p:cNvSpPr/>
          <p:nvPr/>
        </p:nvSpPr>
        <p:spPr>
          <a:xfrm>
            <a:off x="365760" y="3767328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academic literature on embedded SHM systems for resource-limited environments</a:t>
            </a:r>
            <a:endParaRPr dirty="0" sz="1100" lang="en-US"/>
          </a:p>
        </p:txBody>
      </p:sp>
      <p:sp>
        <p:nvSpPr>
          <p:cNvPr id="1048791" name="Text 9"/>
          <p:cNvSpPr/>
          <p:nvPr/>
        </p:nvSpPr>
        <p:spPr>
          <a:xfrm>
            <a:off x="365760" y="4608576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technological independence using locally accessible, off-the-shelf components</a:t>
            </a:r>
            <a:endParaRPr dirty="0" sz="1100" lang="en-US"/>
          </a:p>
        </p:txBody>
      </p:sp>
      <p:sp>
        <p:nvSpPr>
          <p:cNvPr id="1048792" name="Text 10"/>
          <p:cNvSpPr/>
          <p:nvPr/>
        </p:nvSpPr>
        <p:spPr>
          <a:xfrm>
            <a:off x="6309360" y="1261872"/>
            <a:ext cx="10058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3600" lang="en-US"/>
          </a:p>
        </p:txBody>
      </p:sp>
      <p:sp>
        <p:nvSpPr>
          <p:cNvPr id="1048793" name="Text 11"/>
          <p:cNvSpPr/>
          <p:nvPr/>
        </p:nvSpPr>
        <p:spPr>
          <a:xfrm>
            <a:off x="7406640" y="1261872"/>
            <a:ext cx="4480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Beneficiaries &amp; Applications</a:t>
            </a:r>
            <a:endParaRPr dirty="0" sz="1400" lang="en-US"/>
          </a:p>
        </p:txBody>
      </p:sp>
      <p:sp>
        <p:nvSpPr>
          <p:cNvPr id="1048794" name="Shape 12"/>
          <p:cNvSpPr/>
          <p:nvPr/>
        </p:nvSpPr>
        <p:spPr>
          <a:xfrm>
            <a:off x="6309360" y="1920240"/>
            <a:ext cx="557784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795" name="Text 13"/>
          <p:cNvSpPr/>
          <p:nvPr/>
        </p:nvSpPr>
        <p:spPr>
          <a:xfrm>
            <a:off x="6309360" y="2029968"/>
            <a:ext cx="557784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benefits multiple stakeholders across engineering, government, and research sectors by offering real-time, data-driven infrastructure monitoring at low deployment cost.</a:t>
            </a:r>
            <a:endParaRPr dirty="0" sz="1100" lang="en-US"/>
          </a:p>
        </p:txBody>
      </p:sp>
      <p:sp>
        <p:nvSpPr>
          <p:cNvPr id="1048796" name="Text 14"/>
          <p:cNvSpPr/>
          <p:nvPr/>
        </p:nvSpPr>
        <p:spPr>
          <a:xfrm>
            <a:off x="6309360" y="2926080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&amp; Inspectors: Supplementary continuous monitoring tool enabling early anomaly identification</a:t>
            </a:r>
            <a:endParaRPr dirty="0" sz="1100" lang="en-US"/>
          </a:p>
        </p:txBody>
      </p:sp>
      <p:sp>
        <p:nvSpPr>
          <p:cNvPr id="1048797" name="Text 15"/>
          <p:cNvSpPr/>
          <p:nvPr/>
        </p:nvSpPr>
        <p:spPr>
          <a:xfrm>
            <a:off x="6309360" y="3767328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Agencies: Supports data-driven decisions for bridge maintenance, safety planning</a:t>
            </a:r>
            <a:endParaRPr dirty="0" sz="1100" lang="en-US"/>
          </a:p>
        </p:txBody>
      </p:sp>
      <p:sp>
        <p:nvSpPr>
          <p:cNvPr id="1048798" name="Text 16"/>
          <p:cNvSpPr/>
          <p:nvPr/>
        </p:nvSpPr>
        <p:spPr>
          <a:xfrm>
            <a:off x="6309360" y="4608576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Community: Reference framework for future IoT-based and embedded SHM research</a:t>
            </a:r>
            <a:endParaRPr dirty="0" sz="1100" lang="en-US"/>
          </a:p>
        </p:txBody>
      </p:sp>
      <p:sp>
        <p:nvSpPr>
          <p:cNvPr id="1048799" name="Text 17"/>
          <p:cNvSpPr/>
          <p:nvPr/>
        </p:nvSpPr>
        <p:spPr>
          <a:xfrm>
            <a:off x="6309360" y="5449824"/>
            <a:ext cx="5577840" cy="7498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Communities: Improved bridge safety monitoring in resource-constrained Philippine settings</a:t>
            </a:r>
            <a:endParaRPr dirty="0" sz="1100" lang="en-US"/>
          </a:p>
        </p:txBody>
      </p:sp>
      <p:sp>
        <p:nvSpPr>
          <p:cNvPr id="1048800" name="Text 18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72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— METHODOLOGY</a:t>
            </a:r>
            <a:endParaRPr dirty="0" sz="1100" lang="en-US"/>
          </a:p>
        </p:txBody>
      </p:sp>
      <p:sp>
        <p:nvSpPr>
          <p:cNvPr id="1048805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Research Design</a:t>
            </a:r>
            <a:endParaRPr dirty="0" sz="2800" lang="en-US"/>
          </a:p>
        </p:txBody>
      </p:sp>
      <p:sp>
        <p:nvSpPr>
          <p:cNvPr id="1048806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807" name="Shape 3"/>
          <p:cNvSpPr/>
          <p:nvPr/>
        </p:nvSpPr>
        <p:spPr>
          <a:xfrm>
            <a:off x="365760" y="1234440"/>
            <a:ext cx="3566160" cy="347472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808" name="Text 4"/>
          <p:cNvSpPr/>
          <p:nvPr/>
        </p:nvSpPr>
        <p:spPr>
          <a:xfrm>
            <a:off x="365760" y="1234440"/>
            <a:ext cx="35661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dirty="0" sz="1100" lang="en-US"/>
          </a:p>
        </p:txBody>
      </p:sp>
      <p:sp>
        <p:nvSpPr>
          <p:cNvPr id="1048809" name="Text 5"/>
          <p:cNvSpPr/>
          <p:nvPr/>
        </p:nvSpPr>
        <p:spPr>
          <a:xfrm>
            <a:off x="365760" y="1664208"/>
            <a:ext cx="356616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Developmental-Evaluative Research Design</a:t>
            </a:r>
            <a:endParaRPr dirty="0" sz="1000" lang="en-US"/>
          </a:p>
        </p:txBody>
      </p:sp>
      <p:sp>
        <p:nvSpPr>
          <p:cNvPr id="1048810" name="Text 6"/>
          <p:cNvSpPr/>
          <p:nvPr/>
        </p:nvSpPr>
        <p:spPr>
          <a:xfrm>
            <a:off x="365760" y="2075688"/>
            <a:ext cx="356616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System Design → Phase 2: Firmware Dev → Phase 3: Data Collection → Phase 4: Evaluation</a:t>
            </a:r>
            <a:endParaRPr dirty="0" sz="1000" lang="en-US"/>
          </a:p>
        </p:txBody>
      </p:sp>
      <p:sp>
        <p:nvSpPr>
          <p:cNvPr id="1048811" name="Text 7"/>
          <p:cNvSpPr/>
          <p:nvPr/>
        </p:nvSpPr>
        <p:spPr>
          <a:xfrm>
            <a:off x="365760" y="2487168"/>
            <a:ext cx="356616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Area: Laboratory environment, CSU–Carig Campus, Tuguegarao City, Cagayan</a:t>
            </a:r>
            <a:endParaRPr dirty="0" sz="1000" lang="en-US"/>
          </a:p>
        </p:txBody>
      </p:sp>
      <p:sp>
        <p:nvSpPr>
          <p:cNvPr id="1048812" name="Text 8"/>
          <p:cNvSpPr/>
          <p:nvPr/>
        </p:nvSpPr>
        <p:spPr>
          <a:xfrm>
            <a:off x="365760" y="2898648"/>
            <a:ext cx="356616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dual-core scheduling: Core 0 (acquisition) / Core 1 (FFT + web server)</a:t>
            </a:r>
            <a:endParaRPr dirty="0" sz="1000" lang="en-US"/>
          </a:p>
        </p:txBody>
      </p:sp>
      <p:sp>
        <p:nvSpPr>
          <p:cNvPr id="1048813" name="Shape 9"/>
          <p:cNvSpPr/>
          <p:nvPr/>
        </p:nvSpPr>
        <p:spPr>
          <a:xfrm>
            <a:off x="4160520" y="1234440"/>
            <a:ext cx="3566160" cy="347472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814" name="Text 10"/>
          <p:cNvSpPr/>
          <p:nvPr/>
        </p:nvSpPr>
        <p:spPr>
          <a:xfrm>
            <a:off x="4160520" y="1234440"/>
            <a:ext cx="356616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dirty="0" sz="1100" lang="en-US"/>
          </a:p>
        </p:txBody>
      </p:sp>
      <p:sp>
        <p:nvSpPr>
          <p:cNvPr id="1048815" name="Text 11"/>
          <p:cNvSpPr/>
          <p:nvPr/>
        </p:nvSpPr>
        <p:spPr>
          <a:xfrm>
            <a:off x="4160520" y="1682496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dirty="0" sz="1100" lang="en-US"/>
          </a:p>
        </p:txBody>
      </p:sp>
      <p:sp>
        <p:nvSpPr>
          <p:cNvPr id="1048816" name="Text 12"/>
          <p:cNvSpPr/>
          <p:nvPr/>
        </p:nvSpPr>
        <p:spPr>
          <a:xfrm>
            <a:off x="4160520" y="2029968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MCU; FFT, FreeRTOS, WebServer</a:t>
            </a:r>
            <a:endParaRPr dirty="0" sz="1000" lang="en-US"/>
          </a:p>
        </p:txBody>
      </p:sp>
      <p:sp>
        <p:nvSpPr>
          <p:cNvPr id="1048817" name="Text 13"/>
          <p:cNvSpPr/>
          <p:nvPr/>
        </p:nvSpPr>
        <p:spPr>
          <a:xfrm>
            <a:off x="4160520" y="2487168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×3</a:t>
            </a:r>
            <a:endParaRPr dirty="0" sz="1100" lang="en-US"/>
          </a:p>
        </p:txBody>
      </p:sp>
      <p:sp>
        <p:nvSpPr>
          <p:cNvPr id="1048818" name="Text 14"/>
          <p:cNvSpPr/>
          <p:nvPr/>
        </p:nvSpPr>
        <p:spPr>
          <a:xfrm>
            <a:off x="4160520" y="2834640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MEMS IMU; triaxial acceleration (I²C)</a:t>
            </a:r>
            <a:endParaRPr dirty="0" sz="1000" lang="en-US"/>
          </a:p>
        </p:txBody>
      </p:sp>
      <p:sp>
        <p:nvSpPr>
          <p:cNvPr id="1048819" name="Text 15"/>
          <p:cNvSpPr/>
          <p:nvPr/>
        </p:nvSpPr>
        <p:spPr>
          <a:xfrm>
            <a:off x="4160520" y="3291840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</a:t>
            </a:r>
            <a:endParaRPr dirty="0" sz="1100" lang="en-US"/>
          </a:p>
        </p:txBody>
      </p:sp>
      <p:sp>
        <p:nvSpPr>
          <p:cNvPr id="1048820" name="Text 16"/>
          <p:cNvSpPr/>
          <p:nvPr/>
        </p:nvSpPr>
        <p:spPr>
          <a:xfrm>
            <a:off x="4160520" y="3639312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regulation, sensor headers, communication</a:t>
            </a:r>
            <a:endParaRPr dirty="0" sz="1000" lang="en-US"/>
          </a:p>
        </p:txBody>
      </p:sp>
      <p:sp>
        <p:nvSpPr>
          <p:cNvPr id="1048821" name="Text 17"/>
          <p:cNvSpPr/>
          <p:nvPr/>
        </p:nvSpPr>
        <p:spPr>
          <a:xfrm>
            <a:off x="4160520" y="4096512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LittleFS Flash</a:t>
            </a:r>
            <a:endParaRPr dirty="0" sz="1100" lang="en-US"/>
          </a:p>
        </p:txBody>
      </p:sp>
      <p:sp>
        <p:nvSpPr>
          <p:cNvPr id="1048822" name="Text 18"/>
          <p:cNvSpPr/>
          <p:nvPr/>
        </p:nvSpPr>
        <p:spPr>
          <a:xfrm>
            <a:off x="4160520" y="4443984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CSV data logging (time-domain + FFT)</a:t>
            </a:r>
            <a:endParaRPr dirty="0" sz="1000" lang="en-US"/>
          </a:p>
        </p:txBody>
      </p:sp>
      <p:sp>
        <p:nvSpPr>
          <p:cNvPr id="1048823" name="Text 19"/>
          <p:cNvSpPr/>
          <p:nvPr/>
        </p:nvSpPr>
        <p:spPr>
          <a:xfrm>
            <a:off x="4160520" y="4901184"/>
            <a:ext cx="1371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(STA/AP)</a:t>
            </a:r>
            <a:endParaRPr dirty="0" sz="1100" lang="en-US"/>
          </a:p>
        </p:txBody>
      </p:sp>
      <p:sp>
        <p:nvSpPr>
          <p:cNvPr id="1048824" name="Text 20"/>
          <p:cNvSpPr/>
          <p:nvPr/>
        </p:nvSpPr>
        <p:spPr>
          <a:xfrm>
            <a:off x="4160520" y="5248656"/>
            <a:ext cx="352044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Hz polling endpoint (/data) for dashboard</a:t>
            </a:r>
            <a:endParaRPr dirty="0" sz="1000" lang="en-US"/>
          </a:p>
        </p:txBody>
      </p:sp>
      <p:sp>
        <p:nvSpPr>
          <p:cNvPr id="1048825" name="Shape 21"/>
          <p:cNvSpPr/>
          <p:nvPr/>
        </p:nvSpPr>
        <p:spPr>
          <a:xfrm>
            <a:off x="7955280" y="1234440"/>
            <a:ext cx="3931920" cy="347472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826" name="Text 22"/>
          <p:cNvSpPr/>
          <p:nvPr/>
        </p:nvSpPr>
        <p:spPr>
          <a:xfrm>
            <a:off x="7955280" y="1234440"/>
            <a:ext cx="393192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dirty="0" sz="1100" lang="en-US"/>
          </a:p>
        </p:txBody>
      </p:sp>
      <p:sp>
        <p:nvSpPr>
          <p:cNvPr id="1048827" name="Text 23"/>
          <p:cNvSpPr/>
          <p:nvPr/>
        </p:nvSpPr>
        <p:spPr>
          <a:xfrm>
            <a:off x="7955280" y="1682496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PlatformIO</a:t>
            </a:r>
            <a:endParaRPr dirty="0" sz="1000" lang="en-US"/>
          </a:p>
        </p:txBody>
      </p:sp>
      <p:sp>
        <p:nvSpPr>
          <p:cNvPr id="1048828" name="Text 24"/>
          <p:cNvSpPr/>
          <p:nvPr/>
        </p:nvSpPr>
        <p:spPr>
          <a:xfrm>
            <a:off x="7955280" y="1984248"/>
            <a:ext cx="38862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environment</a:t>
            </a:r>
            <a:endParaRPr dirty="0" sz="1000" lang="en-US"/>
          </a:p>
        </p:txBody>
      </p:sp>
      <p:sp>
        <p:nvSpPr>
          <p:cNvPr id="1048829" name="Text 25"/>
          <p:cNvSpPr/>
          <p:nvPr/>
        </p:nvSpPr>
        <p:spPr>
          <a:xfrm>
            <a:off x="7955280" y="2359152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dirty="0" sz="1000" lang="en-US"/>
          </a:p>
        </p:txBody>
      </p:sp>
      <p:sp>
        <p:nvSpPr>
          <p:cNvPr id="1048830" name="Text 26"/>
          <p:cNvSpPr/>
          <p:nvPr/>
        </p:nvSpPr>
        <p:spPr>
          <a:xfrm>
            <a:off x="7955280" y="2660904"/>
            <a:ext cx="38862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dual-core task scheduling</a:t>
            </a:r>
            <a:endParaRPr dirty="0" sz="1000" lang="en-US"/>
          </a:p>
        </p:txBody>
      </p:sp>
      <p:sp>
        <p:nvSpPr>
          <p:cNvPr id="1048831" name="Text 27"/>
          <p:cNvSpPr/>
          <p:nvPr/>
        </p:nvSpPr>
        <p:spPr>
          <a:xfrm>
            <a:off x="7955280" y="3035808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arduinoFFT Library</a:t>
            </a:r>
            <a:endParaRPr dirty="0" sz="1000" lang="en-US"/>
          </a:p>
        </p:txBody>
      </p:sp>
      <p:sp>
        <p:nvSpPr>
          <p:cNvPr id="1048832" name="Text 28"/>
          <p:cNvSpPr/>
          <p:nvPr/>
        </p:nvSpPr>
        <p:spPr>
          <a:xfrm>
            <a:off x="7955280" y="3337560"/>
            <a:ext cx="38862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1024-point FFT with Hamming windowing</a:t>
            </a:r>
            <a:endParaRPr dirty="0" sz="1000" lang="en-US"/>
          </a:p>
        </p:txBody>
      </p:sp>
      <p:sp>
        <p:nvSpPr>
          <p:cNvPr id="1048833" name="Text 29"/>
          <p:cNvSpPr/>
          <p:nvPr/>
        </p:nvSpPr>
        <p:spPr>
          <a:xfrm>
            <a:off x="7955280" y="3712464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(ESP32)</a:t>
            </a:r>
            <a:endParaRPr dirty="0" sz="1000" lang="en-US"/>
          </a:p>
        </p:txBody>
      </p:sp>
      <p:sp>
        <p:nvSpPr>
          <p:cNvPr id="1048834" name="Text 30"/>
          <p:cNvSpPr/>
          <p:nvPr/>
        </p:nvSpPr>
        <p:spPr>
          <a:xfrm>
            <a:off x="7955280" y="4014216"/>
            <a:ext cx="38862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HTTP server for dashboard delivery</a:t>
            </a:r>
            <a:endParaRPr dirty="0" sz="1000" lang="en-US"/>
          </a:p>
        </p:txBody>
      </p:sp>
      <p:sp>
        <p:nvSpPr>
          <p:cNvPr id="1048835" name="Text 31"/>
          <p:cNvSpPr/>
          <p:nvPr/>
        </p:nvSpPr>
        <p:spPr>
          <a:xfrm>
            <a:off x="7955280" y="4389120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(WebGL)</a:t>
            </a:r>
            <a:endParaRPr dirty="0" sz="1000" lang="en-US"/>
          </a:p>
        </p:txBody>
      </p:sp>
      <p:sp>
        <p:nvSpPr>
          <p:cNvPr id="1048836" name="Text 32"/>
          <p:cNvSpPr/>
          <p:nvPr/>
        </p:nvSpPr>
        <p:spPr>
          <a:xfrm>
            <a:off x="7955280" y="4690872"/>
            <a:ext cx="38862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fabric-ripple bridge heatmap (96×96 mesh)</a:t>
            </a:r>
            <a:endParaRPr dirty="0" sz="1000" lang="en-US"/>
          </a:p>
        </p:txBody>
      </p:sp>
      <p:sp>
        <p:nvSpPr>
          <p:cNvPr id="1048837" name="Text 33"/>
          <p:cNvSpPr/>
          <p:nvPr/>
        </p:nvSpPr>
        <p:spPr>
          <a:xfrm>
            <a:off x="7955280" y="5065776"/>
            <a:ext cx="18288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LittleFS</a:t>
            </a:r>
            <a:endParaRPr dirty="0" sz="1000" lang="en-US"/>
          </a:p>
        </p:txBody>
      </p:sp>
      <p:sp>
        <p:nvSpPr>
          <p:cNvPr id="1048838" name="Text 34"/>
          <p:cNvSpPr/>
          <p:nvPr/>
        </p:nvSpPr>
        <p:spPr>
          <a:xfrm>
            <a:off x="7955280" y="5367528"/>
            <a:ext cx="38862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flash filesystem for CSV logging</a:t>
            </a:r>
            <a:endParaRPr dirty="0" sz="1000" lang="en-US"/>
          </a:p>
        </p:txBody>
      </p:sp>
      <p:sp>
        <p:nvSpPr>
          <p:cNvPr id="1048839" name="Text 35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— METHODOLOGY</a:t>
            </a:r>
            <a:endParaRPr dirty="0" sz="1100" lang="en-US"/>
          </a:p>
        </p:txBody>
      </p:sp>
      <p:sp>
        <p:nvSpPr>
          <p:cNvPr id="1048844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 — FFT Signal Processing</a:t>
            </a:r>
            <a:endParaRPr dirty="0" sz="2800" lang="en-US"/>
          </a:p>
        </p:txBody>
      </p:sp>
      <p:sp>
        <p:nvSpPr>
          <p:cNvPr id="1048845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846" name="Shape 3"/>
          <p:cNvSpPr/>
          <p:nvPr/>
        </p:nvSpPr>
        <p:spPr>
          <a:xfrm>
            <a:off x="365760" y="1234440"/>
            <a:ext cx="1371600" cy="292608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847" name="Text 4"/>
          <p:cNvSpPr/>
          <p:nvPr/>
        </p:nvSpPr>
        <p:spPr>
          <a:xfrm>
            <a:off x="365760" y="1234440"/>
            <a:ext cx="13716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dirty="0" sz="1000" lang="en-US"/>
          </a:p>
        </p:txBody>
      </p:sp>
      <p:sp>
        <p:nvSpPr>
          <p:cNvPr id="1048848" name="Shape 5"/>
          <p:cNvSpPr/>
          <p:nvPr/>
        </p:nvSpPr>
        <p:spPr>
          <a:xfrm>
            <a:off x="365760" y="1609344"/>
            <a:ext cx="3520440" cy="1463040"/>
          </a:xfrm>
          <a:prstGeom prst="rect"/>
          <a:solidFill>
            <a:srgbClr val="12344D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048849" name="Text 6"/>
          <p:cNvSpPr/>
          <p:nvPr/>
        </p:nvSpPr>
        <p:spPr>
          <a:xfrm>
            <a:off x="457200" y="1664208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DATA ACQUISITION</a:t>
            </a:r>
            <a:endParaRPr dirty="0" sz="1100" lang="en-US"/>
          </a:p>
        </p:txBody>
      </p:sp>
      <p:sp>
        <p:nvSpPr>
          <p:cNvPr id="1048850" name="Shape 7"/>
          <p:cNvSpPr/>
          <p:nvPr/>
        </p:nvSpPr>
        <p:spPr>
          <a:xfrm>
            <a:off x="457200" y="2029968"/>
            <a:ext cx="3337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851" name="Text 8"/>
          <p:cNvSpPr/>
          <p:nvPr/>
        </p:nvSpPr>
        <p:spPr>
          <a:xfrm>
            <a:off x="457200" y="2084832"/>
            <a:ext cx="333756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Rate: 167 Hz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Bus (ADO pin multiplexing)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MPU-6050 polled sequentially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— deterministic timing</a:t>
            </a:r>
            <a:endParaRPr dirty="0" sz="1000" lang="en-US"/>
          </a:p>
        </p:txBody>
      </p:sp>
      <p:sp>
        <p:nvSpPr>
          <p:cNvPr id="1048852" name="Text 9"/>
          <p:cNvSpPr/>
          <p:nvPr/>
        </p:nvSpPr>
        <p:spPr>
          <a:xfrm>
            <a:off x="3895344" y="2103120"/>
            <a:ext cx="118872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600" lang="en-US"/>
          </a:p>
        </p:txBody>
      </p:sp>
      <p:sp>
        <p:nvSpPr>
          <p:cNvPr id="1048853" name="Shape 10"/>
          <p:cNvSpPr/>
          <p:nvPr/>
        </p:nvSpPr>
        <p:spPr>
          <a:xfrm>
            <a:off x="4023360" y="1609344"/>
            <a:ext cx="3520440" cy="1463040"/>
          </a:xfrm>
          <a:prstGeom prst="rect"/>
          <a:solidFill>
            <a:srgbClr val="12344D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048854" name="Text 11"/>
          <p:cNvSpPr/>
          <p:nvPr/>
        </p:nvSpPr>
        <p:spPr>
          <a:xfrm>
            <a:off x="4114800" y="1664208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PRE-PROCESSING</a:t>
            </a:r>
            <a:endParaRPr dirty="0" sz="1100" lang="en-US"/>
          </a:p>
        </p:txBody>
      </p:sp>
      <p:sp>
        <p:nvSpPr>
          <p:cNvPr id="1048855" name="Shape 12"/>
          <p:cNvSpPr/>
          <p:nvPr/>
        </p:nvSpPr>
        <p:spPr>
          <a:xfrm>
            <a:off x="4114800" y="2029968"/>
            <a:ext cx="3337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856" name="Text 13"/>
          <p:cNvSpPr/>
          <p:nvPr/>
        </p:nvSpPr>
        <p:spPr>
          <a:xfrm>
            <a:off x="4114800" y="2084832"/>
            <a:ext cx="333756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Filter (MAF)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Window Function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calibration applied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 suppression</a:t>
            </a:r>
            <a:endParaRPr dirty="0" sz="1000" lang="en-US"/>
          </a:p>
        </p:txBody>
      </p:sp>
      <p:sp>
        <p:nvSpPr>
          <p:cNvPr id="1048857" name="Text 14"/>
          <p:cNvSpPr/>
          <p:nvPr/>
        </p:nvSpPr>
        <p:spPr>
          <a:xfrm>
            <a:off x="7552944" y="2103120"/>
            <a:ext cx="118872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600" lang="en-US"/>
          </a:p>
        </p:txBody>
      </p:sp>
      <p:sp>
        <p:nvSpPr>
          <p:cNvPr id="1048858" name="Shape 15"/>
          <p:cNvSpPr/>
          <p:nvPr/>
        </p:nvSpPr>
        <p:spPr>
          <a:xfrm>
            <a:off x="7680960" y="1609344"/>
            <a:ext cx="3520440" cy="1463040"/>
          </a:xfrm>
          <a:prstGeom prst="rect"/>
          <a:solidFill>
            <a:srgbClr val="12344D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048859" name="Text 16"/>
          <p:cNvSpPr/>
          <p:nvPr/>
        </p:nvSpPr>
        <p:spPr>
          <a:xfrm>
            <a:off x="7772400" y="1664208"/>
            <a:ext cx="33375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FFT COMPUTATION</a:t>
            </a:r>
            <a:endParaRPr dirty="0" sz="1100" lang="en-US"/>
          </a:p>
        </p:txBody>
      </p:sp>
      <p:sp>
        <p:nvSpPr>
          <p:cNvPr id="1048860" name="Shape 17"/>
          <p:cNvSpPr/>
          <p:nvPr/>
        </p:nvSpPr>
        <p:spPr>
          <a:xfrm>
            <a:off x="7772400" y="2029968"/>
            <a:ext cx="3337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861" name="Text 18"/>
          <p:cNvSpPr/>
          <p:nvPr/>
        </p:nvSpPr>
        <p:spPr>
          <a:xfrm>
            <a:off x="7772400" y="2084832"/>
            <a:ext cx="333756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1024-point FFT (arduinoFFT)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resolution: 0.163 Hz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bin detection algorithm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 extracted</a:t>
            </a:r>
            <a:endParaRPr dirty="0" sz="1000" lang="en-US"/>
          </a:p>
        </p:txBody>
      </p:sp>
      <p:sp>
        <p:nvSpPr>
          <p:cNvPr id="1048862" name="Shape 19"/>
          <p:cNvSpPr/>
          <p:nvPr/>
        </p:nvSpPr>
        <p:spPr>
          <a:xfrm>
            <a:off x="365760" y="3218688"/>
            <a:ext cx="1463040" cy="292608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863" name="Text 20"/>
          <p:cNvSpPr/>
          <p:nvPr/>
        </p:nvSpPr>
        <p:spPr>
          <a:xfrm>
            <a:off x="365760" y="3218688"/>
            <a:ext cx="146304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</a:t>
            </a:r>
            <a:endParaRPr dirty="0" sz="900" lang="en-US"/>
          </a:p>
        </p:txBody>
      </p:sp>
      <p:sp>
        <p:nvSpPr>
          <p:cNvPr id="1048864" name="Shape 21"/>
          <p:cNvSpPr/>
          <p:nvPr/>
        </p:nvSpPr>
        <p:spPr>
          <a:xfrm>
            <a:off x="365760" y="3566160"/>
            <a:ext cx="5577840" cy="1508760"/>
          </a:xfrm>
          <a:prstGeom prst="rect"/>
          <a:solidFill>
            <a:srgbClr val="12344D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865" name="Text 22"/>
          <p:cNvSpPr/>
          <p:nvPr/>
        </p:nvSpPr>
        <p:spPr>
          <a:xfrm>
            <a:off x="457200" y="3621024"/>
            <a:ext cx="539496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RMS Threshold Detection</a:t>
            </a:r>
            <a:endParaRPr dirty="0" sz="1100" lang="en-US"/>
          </a:p>
        </p:txBody>
      </p:sp>
      <p:sp>
        <p:nvSpPr>
          <p:cNvPr id="1048866" name="Text 23"/>
          <p:cNvSpPr/>
          <p:nvPr/>
        </p:nvSpPr>
        <p:spPr>
          <a:xfrm>
            <a:off x="457200" y="3950208"/>
            <a:ext cx="539496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acceleration computed per axis. Thresholds define OK / WARN / CRIT states. CRIT alert fires when RMS exceeds critical level. No false alerts observed during idle periods.</a:t>
            </a:r>
            <a:endParaRPr dirty="0" sz="1100" lang="en-US"/>
          </a:p>
        </p:txBody>
      </p:sp>
      <p:sp>
        <p:nvSpPr>
          <p:cNvPr id="1048867" name="Shape 24"/>
          <p:cNvSpPr/>
          <p:nvPr/>
        </p:nvSpPr>
        <p:spPr>
          <a:xfrm>
            <a:off x="6281928" y="3218688"/>
            <a:ext cx="1463040" cy="292608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868" name="Text 25"/>
          <p:cNvSpPr/>
          <p:nvPr/>
        </p:nvSpPr>
        <p:spPr>
          <a:xfrm>
            <a:off x="6281928" y="3218688"/>
            <a:ext cx="146304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</a:t>
            </a:r>
            <a:endParaRPr dirty="0" sz="900" lang="en-US"/>
          </a:p>
        </p:txBody>
      </p:sp>
      <p:sp>
        <p:nvSpPr>
          <p:cNvPr id="1048869" name="Shape 26"/>
          <p:cNvSpPr/>
          <p:nvPr/>
        </p:nvSpPr>
        <p:spPr>
          <a:xfrm>
            <a:off x="6281928" y="3566160"/>
            <a:ext cx="5577840" cy="1508760"/>
          </a:xfrm>
          <a:prstGeom prst="rect"/>
          <a:solidFill>
            <a:srgbClr val="12344D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870" name="Text 27"/>
          <p:cNvSpPr/>
          <p:nvPr/>
        </p:nvSpPr>
        <p:spPr>
          <a:xfrm>
            <a:off x="6373368" y="3621024"/>
            <a:ext cx="539496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Cross-Axis Coupling Response</a:t>
            </a:r>
            <a:endParaRPr dirty="0" sz="1100" lang="en-US"/>
          </a:p>
        </p:txBody>
      </p:sp>
      <p:sp>
        <p:nvSpPr>
          <p:cNvPr id="1048871" name="Text 28"/>
          <p:cNvSpPr/>
          <p:nvPr/>
        </p:nvSpPr>
        <p:spPr>
          <a:xfrm>
            <a:off x="6373368" y="3950208"/>
            <a:ext cx="539496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Multi-directional energy propagation detected across axes during single-axis excitation. Y-axis peak (1.6265g) exceeded X-axis during X-excitation. Confirms realistic structural coupling behavior.</a:t>
            </a:r>
            <a:endParaRPr dirty="0" sz="1100" lang="en-US"/>
          </a:p>
        </p:txBody>
      </p:sp>
      <p:sp>
        <p:nvSpPr>
          <p:cNvPr id="1048872" name="Text 29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— METHODOLOGY</a:t>
            </a:r>
            <a:endParaRPr dirty="0" sz="1100" lang="en-US"/>
          </a:p>
        </p:txBody>
      </p:sp>
      <p:sp>
        <p:nvSpPr>
          <p:cNvPr id="1048877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Monitoring Pipeline</a:t>
            </a:r>
            <a:endParaRPr dirty="0" sz="2800" lang="en-US"/>
          </a:p>
        </p:txBody>
      </p:sp>
      <p:sp>
        <p:nvSpPr>
          <p:cNvPr id="1048878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879" name="Shape 3"/>
          <p:cNvSpPr/>
          <p:nvPr/>
        </p:nvSpPr>
        <p:spPr>
          <a:xfrm>
            <a:off x="1179576" y="1234440"/>
            <a:ext cx="548640" cy="548640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880" name="Text 4"/>
          <p:cNvSpPr/>
          <p:nvPr/>
        </p:nvSpPr>
        <p:spPr>
          <a:xfrm>
            <a:off x="1179576" y="123444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800" lang="en-US"/>
          </a:p>
        </p:txBody>
      </p:sp>
      <p:sp>
        <p:nvSpPr>
          <p:cNvPr id="1048881" name="Text 5"/>
          <p:cNvSpPr/>
          <p:nvPr/>
        </p:nvSpPr>
        <p:spPr>
          <a:xfrm>
            <a:off x="365760" y="1874520"/>
            <a:ext cx="2176272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📌</a:t>
            </a:r>
            <a:endParaRPr dirty="0" sz="2200" lang="en-US"/>
          </a:p>
        </p:txBody>
      </p:sp>
      <p:sp>
        <p:nvSpPr>
          <p:cNvPr id="1048882" name="Text 6"/>
          <p:cNvSpPr/>
          <p:nvPr/>
        </p:nvSpPr>
        <p:spPr>
          <a:xfrm>
            <a:off x="365760" y="2331720"/>
            <a:ext cx="21762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Placement</a:t>
            </a:r>
            <a:endParaRPr dirty="0" sz="1200" lang="en-US"/>
          </a:p>
        </p:txBody>
      </p:sp>
      <p:sp>
        <p:nvSpPr>
          <p:cNvPr id="1048883" name="Text 7"/>
          <p:cNvSpPr/>
          <p:nvPr/>
        </p:nvSpPr>
        <p:spPr>
          <a:xfrm>
            <a:off x="365760" y="2724912"/>
            <a:ext cx="2176272" cy="1371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MPU-6050 IMUs mounted on structurally significant points using rigid fasteners to minimize mounting-induced noise.</a:t>
            </a:r>
            <a:endParaRPr dirty="0" sz="1000" lang="en-US"/>
          </a:p>
        </p:txBody>
      </p:sp>
      <p:sp>
        <p:nvSpPr>
          <p:cNvPr id="1048884" name="Text 8"/>
          <p:cNvSpPr/>
          <p:nvPr/>
        </p:nvSpPr>
        <p:spPr>
          <a:xfrm>
            <a:off x="2551176" y="1417320"/>
            <a:ext cx="9144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885" name="Shape 9"/>
          <p:cNvSpPr/>
          <p:nvPr/>
        </p:nvSpPr>
        <p:spPr>
          <a:xfrm>
            <a:off x="3465576" y="1234440"/>
            <a:ext cx="548640" cy="548640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886" name="Text 10"/>
          <p:cNvSpPr/>
          <p:nvPr/>
        </p:nvSpPr>
        <p:spPr>
          <a:xfrm>
            <a:off x="3465576" y="123444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800" lang="en-US"/>
          </a:p>
        </p:txBody>
      </p:sp>
      <p:sp>
        <p:nvSpPr>
          <p:cNvPr id="1048887" name="Text 11"/>
          <p:cNvSpPr/>
          <p:nvPr/>
        </p:nvSpPr>
        <p:spPr>
          <a:xfrm>
            <a:off x="2651760" y="1874520"/>
            <a:ext cx="2176272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⚡</a:t>
            </a:r>
            <a:endParaRPr dirty="0" sz="2200" lang="en-US"/>
          </a:p>
        </p:txBody>
      </p:sp>
      <p:sp>
        <p:nvSpPr>
          <p:cNvPr id="1048888" name="Text 12"/>
          <p:cNvSpPr/>
          <p:nvPr/>
        </p:nvSpPr>
        <p:spPr>
          <a:xfrm>
            <a:off x="2651760" y="2331720"/>
            <a:ext cx="21762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</a:t>
            </a:r>
            <a:endParaRPr dirty="0" sz="1200" lang="en-US"/>
          </a:p>
        </p:txBody>
      </p:sp>
      <p:sp>
        <p:nvSpPr>
          <p:cNvPr id="1048889" name="Text 13"/>
          <p:cNvSpPr/>
          <p:nvPr/>
        </p:nvSpPr>
        <p:spPr>
          <a:xfrm>
            <a:off x="2651760" y="2724912"/>
            <a:ext cx="2176272" cy="1371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initializes I²C bus, calibrates each IMU at rest, computes offsets, and establishes the WebServer endpoint.</a:t>
            </a:r>
            <a:endParaRPr dirty="0" sz="1000" lang="en-US"/>
          </a:p>
        </p:txBody>
      </p:sp>
      <p:sp>
        <p:nvSpPr>
          <p:cNvPr id="1048890" name="Text 14"/>
          <p:cNvSpPr/>
          <p:nvPr/>
        </p:nvSpPr>
        <p:spPr>
          <a:xfrm>
            <a:off x="4837176" y="1417320"/>
            <a:ext cx="9144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891" name="Shape 15"/>
          <p:cNvSpPr/>
          <p:nvPr/>
        </p:nvSpPr>
        <p:spPr>
          <a:xfrm>
            <a:off x="5751576" y="1234440"/>
            <a:ext cx="548640" cy="548640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892" name="Text 16"/>
          <p:cNvSpPr/>
          <p:nvPr/>
        </p:nvSpPr>
        <p:spPr>
          <a:xfrm>
            <a:off x="5751576" y="123444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800" lang="en-US"/>
          </a:p>
        </p:txBody>
      </p:sp>
      <p:sp>
        <p:nvSpPr>
          <p:cNvPr id="1048893" name="Text 17"/>
          <p:cNvSpPr/>
          <p:nvPr/>
        </p:nvSpPr>
        <p:spPr>
          <a:xfrm>
            <a:off x="4937760" y="1874520"/>
            <a:ext cx="2176272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🌊</a:t>
            </a:r>
            <a:endParaRPr dirty="0" sz="2200" lang="en-US"/>
          </a:p>
        </p:txBody>
      </p:sp>
      <p:sp>
        <p:nvSpPr>
          <p:cNvPr id="1048894" name="Text 18"/>
          <p:cNvSpPr/>
          <p:nvPr/>
        </p:nvSpPr>
        <p:spPr>
          <a:xfrm>
            <a:off x="4937760" y="2331720"/>
            <a:ext cx="21762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Vibration</a:t>
            </a:r>
            <a:endParaRPr dirty="0" sz="1200" lang="en-US"/>
          </a:p>
        </p:txBody>
      </p:sp>
      <p:sp>
        <p:nvSpPr>
          <p:cNvPr id="1048895" name="Text 19"/>
          <p:cNvSpPr/>
          <p:nvPr/>
        </p:nvSpPr>
        <p:spPr>
          <a:xfrm>
            <a:off x="4937760" y="2724912"/>
            <a:ext cx="2176272" cy="1371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under ambient excitation (OMA method) using natural traffic, wind, and environmental forces — no artificial input.</a:t>
            </a:r>
            <a:endParaRPr dirty="0" sz="1000" lang="en-US"/>
          </a:p>
        </p:txBody>
      </p:sp>
      <p:sp>
        <p:nvSpPr>
          <p:cNvPr id="1048896" name="Text 20"/>
          <p:cNvSpPr/>
          <p:nvPr/>
        </p:nvSpPr>
        <p:spPr>
          <a:xfrm>
            <a:off x="7123176" y="1417320"/>
            <a:ext cx="9144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897" name="Shape 21"/>
          <p:cNvSpPr/>
          <p:nvPr/>
        </p:nvSpPr>
        <p:spPr>
          <a:xfrm>
            <a:off x="8037576" y="1234440"/>
            <a:ext cx="548640" cy="548640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898" name="Text 22"/>
          <p:cNvSpPr/>
          <p:nvPr/>
        </p:nvSpPr>
        <p:spPr>
          <a:xfrm>
            <a:off x="8037576" y="123444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800" lang="en-US"/>
          </a:p>
        </p:txBody>
      </p:sp>
      <p:sp>
        <p:nvSpPr>
          <p:cNvPr id="1048899" name="Text 23"/>
          <p:cNvSpPr/>
          <p:nvPr/>
        </p:nvSpPr>
        <p:spPr>
          <a:xfrm>
            <a:off x="7223760" y="1874520"/>
            <a:ext cx="2176272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🔬</a:t>
            </a:r>
            <a:endParaRPr dirty="0" sz="2200" lang="en-US"/>
          </a:p>
        </p:txBody>
      </p:sp>
      <p:sp>
        <p:nvSpPr>
          <p:cNvPr id="1048900" name="Text 24"/>
          <p:cNvSpPr/>
          <p:nvPr/>
        </p:nvSpPr>
        <p:spPr>
          <a:xfrm>
            <a:off x="7223760" y="2331720"/>
            <a:ext cx="21762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dirty="0" sz="1200" lang="en-US"/>
          </a:p>
        </p:txBody>
      </p:sp>
      <p:sp>
        <p:nvSpPr>
          <p:cNvPr id="1048901" name="Text 25"/>
          <p:cNvSpPr/>
          <p:nvPr/>
        </p:nvSpPr>
        <p:spPr>
          <a:xfrm>
            <a:off x="7223760" y="2724912"/>
            <a:ext cx="2176272" cy="1371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pre-conditioning → Hamming windowing → 1024-point FFT → Peak bin detection. Core 1 handles all DSP tasks deterministically.</a:t>
            </a:r>
            <a:endParaRPr dirty="0" sz="1000" lang="en-US"/>
          </a:p>
        </p:txBody>
      </p:sp>
      <p:sp>
        <p:nvSpPr>
          <p:cNvPr id="1048902" name="Text 26"/>
          <p:cNvSpPr/>
          <p:nvPr/>
        </p:nvSpPr>
        <p:spPr>
          <a:xfrm>
            <a:off x="9409176" y="1417320"/>
            <a:ext cx="91440" cy="274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dirty="0" sz="1400" lang="en-US"/>
          </a:p>
        </p:txBody>
      </p:sp>
      <p:sp>
        <p:nvSpPr>
          <p:cNvPr id="1048903" name="Shape 27"/>
          <p:cNvSpPr/>
          <p:nvPr/>
        </p:nvSpPr>
        <p:spPr>
          <a:xfrm>
            <a:off x="10323576" y="1234440"/>
            <a:ext cx="548640" cy="548640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04" name="Text 28"/>
          <p:cNvSpPr/>
          <p:nvPr/>
        </p:nvSpPr>
        <p:spPr>
          <a:xfrm>
            <a:off x="10323576" y="123444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800" lang="en-US"/>
          </a:p>
        </p:txBody>
      </p:sp>
      <p:sp>
        <p:nvSpPr>
          <p:cNvPr id="1048905" name="Text 29"/>
          <p:cNvSpPr/>
          <p:nvPr/>
        </p:nvSpPr>
        <p:spPr>
          <a:xfrm>
            <a:off x="9509760" y="1874520"/>
            <a:ext cx="2176272" cy="4114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📡</a:t>
            </a:r>
            <a:endParaRPr dirty="0" sz="2200" lang="en-US"/>
          </a:p>
        </p:txBody>
      </p:sp>
      <p:sp>
        <p:nvSpPr>
          <p:cNvPr id="1048906" name="Text 30"/>
          <p:cNvSpPr/>
          <p:nvPr/>
        </p:nvSpPr>
        <p:spPr>
          <a:xfrm>
            <a:off x="9509760" y="2331720"/>
            <a:ext cx="21762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dirty="0" sz="1200" lang="en-US"/>
          </a:p>
        </p:txBody>
      </p:sp>
      <p:sp>
        <p:nvSpPr>
          <p:cNvPr id="1048907" name="Text 31"/>
          <p:cNvSpPr/>
          <p:nvPr/>
        </p:nvSpPr>
        <p:spPr>
          <a:xfrm>
            <a:off x="9509760" y="2724912"/>
            <a:ext cx="2176272" cy="1371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polled at 20 Hz via /data endpoint. 3D fabric-ripple simulation with CRIT/WARN/OK color-coded state indicators.</a:t>
            </a:r>
            <a:endParaRPr dirty="0" sz="1000" lang="en-US"/>
          </a:p>
        </p:txBody>
      </p:sp>
      <p:sp>
        <p:nvSpPr>
          <p:cNvPr id="1048908" name="Shape 32"/>
          <p:cNvSpPr/>
          <p:nvPr/>
        </p:nvSpPr>
        <p:spPr>
          <a:xfrm>
            <a:off x="365760" y="422452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909" name="Text 33"/>
          <p:cNvSpPr/>
          <p:nvPr/>
        </p:nvSpPr>
        <p:spPr>
          <a:xfrm>
            <a:off x="365760" y="4370832"/>
            <a:ext cx="566928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Transmission Success Rate across all test sessions</a:t>
            </a:r>
            <a:endParaRPr dirty="0" sz="1100" lang="en-US"/>
          </a:p>
        </p:txBody>
      </p:sp>
      <p:sp>
        <p:nvSpPr>
          <p:cNvPr id="1048910" name="Text 34"/>
          <p:cNvSpPr/>
          <p:nvPr/>
        </p:nvSpPr>
        <p:spPr>
          <a:xfrm>
            <a:off x="365760" y="4754880"/>
            <a:ext cx="566928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data loss or packet drops observed during any session</a:t>
            </a:r>
            <a:endParaRPr dirty="0" sz="1100" lang="en-US"/>
          </a:p>
        </p:txBody>
      </p:sp>
      <p:sp>
        <p:nvSpPr>
          <p:cNvPr id="1048911" name="Text 35"/>
          <p:cNvSpPr/>
          <p:nvPr/>
        </p:nvSpPr>
        <p:spPr>
          <a:xfrm>
            <a:off x="365760" y="5138928"/>
            <a:ext cx="566928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FreeRTOS dual-core scheduling ensures deterministic acquisition and processing</a:t>
            </a:r>
            <a:endParaRPr dirty="0" sz="1100" lang="en-US"/>
          </a:p>
        </p:txBody>
      </p:sp>
      <p:sp>
        <p:nvSpPr>
          <p:cNvPr id="1048912" name="Text 36"/>
          <p:cNvSpPr/>
          <p:nvPr/>
        </p:nvSpPr>
        <p:spPr>
          <a:xfrm>
            <a:off x="6309360" y="4370832"/>
            <a:ext cx="566928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Dual-stage smoothing (LPF + LERP) eliminates visual jitter on dashboard</a:t>
            </a:r>
            <a:endParaRPr dirty="0" sz="1100" lang="en-US"/>
          </a:p>
        </p:txBody>
      </p:sp>
      <p:sp>
        <p:nvSpPr>
          <p:cNvPr id="1048913" name="Text 37"/>
          <p:cNvSpPr/>
          <p:nvPr/>
        </p:nvSpPr>
        <p:spPr>
          <a:xfrm>
            <a:off x="6309360" y="4754880"/>
            <a:ext cx="566928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Self-hosted dashboard — no external server infrastructure required</a:t>
            </a:r>
            <a:endParaRPr dirty="0" sz="1100" lang="en-US"/>
          </a:p>
        </p:txBody>
      </p:sp>
      <p:sp>
        <p:nvSpPr>
          <p:cNvPr id="1048914" name="Text 38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— METHODOLOGY</a:t>
            </a:r>
            <a:endParaRPr dirty="0" sz="1100" lang="en-US"/>
          </a:p>
        </p:txBody>
      </p:sp>
      <p:sp>
        <p:nvSpPr>
          <p:cNvPr id="1048919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Protocols &amp; Reliability Testing</a:t>
            </a:r>
            <a:endParaRPr dirty="0" sz="2800" lang="en-US"/>
          </a:p>
        </p:txBody>
      </p:sp>
      <p:sp>
        <p:nvSpPr>
          <p:cNvPr id="1048920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921" name="Text 3"/>
          <p:cNvSpPr/>
          <p:nvPr/>
        </p:nvSpPr>
        <p:spPr>
          <a:xfrm>
            <a:off x="365760" y="1261872"/>
            <a:ext cx="91440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3600" lang="en-US"/>
          </a:p>
        </p:txBody>
      </p:sp>
      <p:sp>
        <p:nvSpPr>
          <p:cNvPr id="1048922" name="Text 4"/>
          <p:cNvSpPr/>
          <p:nvPr/>
        </p:nvSpPr>
        <p:spPr>
          <a:xfrm>
            <a:off x="1325880" y="1298448"/>
            <a:ext cx="265176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Testing</a:t>
            </a:r>
            <a:endParaRPr dirty="0" sz="1400" lang="en-US"/>
          </a:p>
        </p:txBody>
      </p:sp>
      <p:sp>
        <p:nvSpPr>
          <p:cNvPr id="1048923" name="Shape 5"/>
          <p:cNvSpPr/>
          <p:nvPr/>
        </p:nvSpPr>
        <p:spPr>
          <a:xfrm>
            <a:off x="365760" y="1920240"/>
            <a:ext cx="361188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924" name="Text 6"/>
          <p:cNvSpPr/>
          <p:nvPr/>
        </p:nvSpPr>
        <p:spPr>
          <a:xfrm>
            <a:off x="365760" y="2011680"/>
            <a:ext cx="36118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subjected to repeated measurement sessions under similar ambient conditions to assess extraction consistency.</a:t>
            </a:r>
            <a:endParaRPr dirty="0" sz="1100" lang="en-US"/>
          </a:p>
        </p:txBody>
      </p:sp>
      <p:sp>
        <p:nvSpPr>
          <p:cNvPr id="1048925" name="Text 7"/>
          <p:cNvSpPr/>
          <p:nvPr/>
        </p:nvSpPr>
        <p:spPr>
          <a:xfrm>
            <a:off x="365760" y="27432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peak frequency values computed across sessions to quantify repeatability</a:t>
            </a:r>
            <a:endParaRPr dirty="0" sz="1100" lang="en-US"/>
          </a:p>
        </p:txBody>
      </p:sp>
      <p:sp>
        <p:nvSpPr>
          <p:cNvPr id="1048926" name="Text 8"/>
          <p:cNvSpPr/>
          <p:nvPr/>
        </p:nvSpPr>
        <p:spPr>
          <a:xfrm>
            <a:off x="365760" y="36576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session achieved median 5.93 Hz vs. mean 5.98 Hz — difference of only 0.05 Hz</a:t>
            </a:r>
            <a:endParaRPr dirty="0" sz="1100" lang="en-US"/>
          </a:p>
        </p:txBody>
      </p:sp>
      <p:sp>
        <p:nvSpPr>
          <p:cNvPr id="1048927" name="Text 9"/>
          <p:cNvSpPr/>
          <p:nvPr/>
        </p:nvSpPr>
        <p:spPr>
          <a:xfrm>
            <a:off x="365760" y="45720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algorithmic stability under sustained, single-axis excitation</a:t>
            </a:r>
            <a:endParaRPr dirty="0" sz="1100" lang="en-US"/>
          </a:p>
        </p:txBody>
      </p:sp>
      <p:sp>
        <p:nvSpPr>
          <p:cNvPr id="1048928" name="Text 10"/>
          <p:cNvSpPr/>
          <p:nvPr/>
        </p:nvSpPr>
        <p:spPr>
          <a:xfrm>
            <a:off x="4297680" y="1261872"/>
            <a:ext cx="91440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3600" lang="en-US"/>
          </a:p>
        </p:txBody>
      </p:sp>
      <p:sp>
        <p:nvSpPr>
          <p:cNvPr id="1048929" name="Text 11"/>
          <p:cNvSpPr/>
          <p:nvPr/>
        </p:nvSpPr>
        <p:spPr>
          <a:xfrm>
            <a:off x="5257800" y="1298448"/>
            <a:ext cx="265176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Verification</a:t>
            </a:r>
            <a:endParaRPr dirty="0" sz="1400" lang="en-US"/>
          </a:p>
        </p:txBody>
      </p:sp>
      <p:sp>
        <p:nvSpPr>
          <p:cNvPr id="1048930" name="Shape 12"/>
          <p:cNvSpPr/>
          <p:nvPr/>
        </p:nvSpPr>
        <p:spPr>
          <a:xfrm>
            <a:off x="4297680" y="1920240"/>
            <a:ext cx="361188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931" name="Text 13"/>
          <p:cNvSpPr/>
          <p:nvPr/>
        </p:nvSpPr>
        <p:spPr>
          <a:xfrm>
            <a:off x="4297680" y="2011680"/>
            <a:ext cx="36118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MPU-6050 was calibrated prior to deployment with static baseline readings and computed offsets.</a:t>
            </a:r>
            <a:endParaRPr dirty="0" sz="1100" lang="en-US"/>
          </a:p>
        </p:txBody>
      </p:sp>
      <p:sp>
        <p:nvSpPr>
          <p:cNvPr id="1048932" name="Text 14"/>
          <p:cNvSpPr/>
          <p:nvPr/>
        </p:nvSpPr>
        <p:spPr>
          <a:xfrm>
            <a:off x="4297680" y="27432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Post-calibration residual noise floors verified within manufacturer-specified range</a:t>
            </a:r>
            <a:endParaRPr dirty="0" sz="1100" lang="en-US"/>
          </a:p>
        </p:txBody>
      </p:sp>
      <p:sp>
        <p:nvSpPr>
          <p:cNvPr id="1048933" name="Text 15"/>
          <p:cNvSpPr/>
          <p:nvPr/>
        </p:nvSpPr>
        <p:spPr>
          <a:xfrm>
            <a:off x="4297680" y="36576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window effectiveness verified by comparing raw vs. windowed FFT outputs</a:t>
            </a:r>
            <a:endParaRPr dirty="0" sz="1100" lang="en-US"/>
          </a:p>
        </p:txBody>
      </p:sp>
      <p:sp>
        <p:nvSpPr>
          <p:cNvPr id="1048934" name="Text 16"/>
          <p:cNvSpPr/>
          <p:nvPr/>
        </p:nvSpPr>
        <p:spPr>
          <a:xfrm>
            <a:off x="4297680" y="45720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leakage reduced significantly confirming filter adequacy for frequency isolation</a:t>
            </a:r>
            <a:endParaRPr dirty="0" sz="1100" lang="en-US"/>
          </a:p>
        </p:txBody>
      </p:sp>
      <p:sp>
        <p:nvSpPr>
          <p:cNvPr id="1048935" name="Text 17"/>
          <p:cNvSpPr/>
          <p:nvPr/>
        </p:nvSpPr>
        <p:spPr>
          <a:xfrm>
            <a:off x="8229600" y="1261872"/>
            <a:ext cx="91440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3600" lang="en-US"/>
          </a:p>
        </p:txBody>
      </p:sp>
      <p:sp>
        <p:nvSpPr>
          <p:cNvPr id="1048936" name="Text 18"/>
          <p:cNvSpPr/>
          <p:nvPr/>
        </p:nvSpPr>
        <p:spPr>
          <a:xfrm>
            <a:off x="9189720" y="1298448"/>
            <a:ext cx="265176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Consistency</a:t>
            </a:r>
            <a:endParaRPr dirty="0" sz="1400" lang="en-US"/>
          </a:p>
        </p:txBody>
      </p:sp>
      <p:sp>
        <p:nvSpPr>
          <p:cNvPr id="1048937" name="Shape 19"/>
          <p:cNvSpPr/>
          <p:nvPr/>
        </p:nvSpPr>
        <p:spPr>
          <a:xfrm>
            <a:off x="8229600" y="1920240"/>
            <a:ext cx="361188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938" name="Text 20"/>
          <p:cNvSpPr/>
          <p:nvPr/>
        </p:nvSpPr>
        <p:spPr>
          <a:xfrm>
            <a:off x="8229600" y="2011680"/>
            <a:ext cx="361188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outputs from all three sensor nodes were compared to identify consistent modal peaks vs. localized noise.</a:t>
            </a:r>
            <a:endParaRPr dirty="0" sz="1100" lang="en-US"/>
          </a:p>
        </p:txBody>
      </p:sp>
      <p:sp>
        <p:nvSpPr>
          <p:cNvPr id="1048939" name="Text 21"/>
          <p:cNvSpPr/>
          <p:nvPr/>
        </p:nvSpPr>
        <p:spPr>
          <a:xfrm>
            <a:off x="8229600" y="27432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 axes in All-Axis session converged at 5.57, 5.94, 5.94 Hz — strong modal agreement</a:t>
            </a:r>
            <a:endParaRPr dirty="0" sz="1100" lang="en-US"/>
          </a:p>
        </p:txBody>
      </p:sp>
      <p:sp>
        <p:nvSpPr>
          <p:cNvPr id="1048940" name="Text 22"/>
          <p:cNvSpPr/>
          <p:nvPr/>
        </p:nvSpPr>
        <p:spPr>
          <a:xfrm>
            <a:off x="8229600" y="36576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cross-axis resonance detection distinguishes structural modes from artifacts</a:t>
            </a:r>
            <a:endParaRPr dirty="0" sz="1100" lang="en-US"/>
          </a:p>
        </p:txBody>
      </p:sp>
      <p:sp>
        <p:nvSpPr>
          <p:cNvPr id="1048941" name="Text 23"/>
          <p:cNvSpPr/>
          <p:nvPr/>
        </p:nvSpPr>
        <p:spPr>
          <a:xfrm>
            <a:off x="8229600" y="4572000"/>
            <a:ext cx="3611880" cy="84124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Single-axis sessions confirmed ~100% frequency extraction success rate during excitation</a:t>
            </a:r>
            <a:endParaRPr dirty="0" sz="1100" lang="en-US"/>
          </a:p>
        </p:txBody>
      </p:sp>
      <p:sp>
        <p:nvSpPr>
          <p:cNvPr id="1048942" name="Text 24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— RESULTS &amp; DISCUSSION</a:t>
            </a:r>
            <a:endParaRPr dirty="0" sz="1100" lang="en-US"/>
          </a:p>
        </p:txBody>
      </p:sp>
      <p:sp>
        <p:nvSpPr>
          <p:cNvPr id="1048947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IMU Performance &amp; Data Transmission</a:t>
            </a:r>
            <a:endParaRPr dirty="0" sz="2800" lang="en-US"/>
          </a:p>
        </p:txBody>
      </p:sp>
      <p:sp>
        <p:nvSpPr>
          <p:cNvPr id="1048948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365760" y="126187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371600"/>
                <a:gridCol w="1463040"/>
                <a:gridCol w="1188720"/>
                <a:gridCol w="914400"/>
              </a:tblGrid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Session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(RMS&gt;0)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RMS (g)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 Events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2,157 (40.3%)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1.0566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751 (14.0%)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 (14.8%)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1.1485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4,661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(2.6%)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0.8514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(coupled)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4,661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 (7.9%)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1.6265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5,335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2,577 (48.3%)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1.0167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2,514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5,289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 (8.5%)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0.6868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</a:tbl>
          </a:graphicData>
        </a:graphic>
      </p:graphicFrame>
      <p:sp>
        <p:nvSpPr>
          <p:cNvPr id="1048949" name="Shape 3"/>
          <p:cNvSpPr/>
          <p:nvPr/>
        </p:nvSpPr>
        <p:spPr>
          <a:xfrm>
            <a:off x="365760" y="4370832"/>
            <a:ext cx="274320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50" name="Text 4"/>
          <p:cNvSpPr/>
          <p:nvPr/>
        </p:nvSpPr>
        <p:spPr>
          <a:xfrm>
            <a:off x="411480" y="4443984"/>
            <a:ext cx="26517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61,892</a:t>
            </a:r>
            <a:endParaRPr dirty="0" sz="3200" lang="en-US"/>
          </a:p>
        </p:txBody>
      </p:sp>
      <p:sp>
        <p:nvSpPr>
          <p:cNvPr id="1048951" name="Text 5"/>
          <p:cNvSpPr/>
          <p:nvPr/>
        </p:nvSpPr>
        <p:spPr>
          <a:xfrm>
            <a:off x="411480" y="5086807"/>
            <a:ext cx="26517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Logged Across All Sessions</a:t>
            </a:r>
            <a:endParaRPr dirty="0" sz="900" lang="en-US"/>
          </a:p>
        </p:txBody>
      </p:sp>
      <p:sp>
        <p:nvSpPr>
          <p:cNvPr id="1048952" name="Shape 6"/>
          <p:cNvSpPr/>
          <p:nvPr/>
        </p:nvSpPr>
        <p:spPr>
          <a:xfrm>
            <a:off x="3291840" y="4370832"/>
            <a:ext cx="274320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953" name="Text 7"/>
          <p:cNvSpPr/>
          <p:nvPr/>
        </p:nvSpPr>
        <p:spPr>
          <a:xfrm>
            <a:off x="3337560" y="4443984"/>
            <a:ext cx="26517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dirty="0" sz="3200" lang="en-US"/>
          </a:p>
        </p:txBody>
      </p:sp>
      <p:sp>
        <p:nvSpPr>
          <p:cNvPr id="1048954" name="Text 8"/>
          <p:cNvSpPr/>
          <p:nvPr/>
        </p:nvSpPr>
        <p:spPr>
          <a:xfrm>
            <a:off x="3337560" y="5086807"/>
            <a:ext cx="26517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Success (Zero Data Loss)</a:t>
            </a:r>
            <a:endParaRPr dirty="0" sz="900" lang="en-US"/>
          </a:p>
        </p:txBody>
      </p:sp>
      <p:sp>
        <p:nvSpPr>
          <p:cNvPr id="1048955" name="Shape 9"/>
          <p:cNvSpPr/>
          <p:nvPr/>
        </p:nvSpPr>
        <p:spPr>
          <a:xfrm>
            <a:off x="6217920" y="4370832"/>
            <a:ext cx="256032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56" name="Text 10"/>
          <p:cNvSpPr/>
          <p:nvPr/>
        </p:nvSpPr>
        <p:spPr>
          <a:xfrm>
            <a:off x="6263640" y="4443984"/>
            <a:ext cx="246888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Hz</a:t>
            </a:r>
            <a:endParaRPr dirty="0" sz="3200" lang="en-US"/>
          </a:p>
        </p:txBody>
      </p:sp>
      <p:sp>
        <p:nvSpPr>
          <p:cNvPr id="1048957" name="Text 11"/>
          <p:cNvSpPr/>
          <p:nvPr/>
        </p:nvSpPr>
        <p:spPr>
          <a:xfrm>
            <a:off x="6263640" y="5086807"/>
            <a:ext cx="246888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Polling Rate (50ms Update Cycle)</a:t>
            </a:r>
            <a:endParaRPr dirty="0" sz="900" lang="en-US"/>
          </a:p>
        </p:txBody>
      </p:sp>
      <p:sp>
        <p:nvSpPr>
          <p:cNvPr id="1048958" name="Shape 12"/>
          <p:cNvSpPr/>
          <p:nvPr/>
        </p:nvSpPr>
        <p:spPr>
          <a:xfrm>
            <a:off x="8961120" y="4370832"/>
            <a:ext cx="256032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959" name="Text 13"/>
          <p:cNvSpPr/>
          <p:nvPr/>
        </p:nvSpPr>
        <p:spPr>
          <a:xfrm>
            <a:off x="9006840" y="4443984"/>
            <a:ext cx="246888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Sessions</a:t>
            </a:r>
            <a:endParaRPr dirty="0" sz="3200" lang="en-US"/>
          </a:p>
        </p:txBody>
      </p:sp>
      <p:sp>
        <p:nvSpPr>
          <p:cNvPr id="1048960" name="Text 14"/>
          <p:cNvSpPr/>
          <p:nvPr/>
        </p:nvSpPr>
        <p:spPr>
          <a:xfrm>
            <a:off x="9006840" y="5086807"/>
            <a:ext cx="246888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Sessions Completed Without Failure</a:t>
            </a:r>
            <a:endParaRPr dirty="0" sz="900" lang="en-US"/>
          </a:p>
        </p:txBody>
      </p:sp>
      <p:sp>
        <p:nvSpPr>
          <p:cNvPr id="1048961" name="Text 15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F72"/>
        </a:solidFill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— RESULTS &amp; DISCUSSION</a:t>
            </a:r>
            <a:endParaRPr dirty="0" sz="1100" lang="en-US"/>
          </a:p>
        </p:txBody>
      </p:sp>
      <p:sp>
        <p:nvSpPr>
          <p:cNvPr id="1048966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Resonance Frequency Extraction</a:t>
            </a:r>
            <a:endParaRPr dirty="0" sz="2800" lang="en-US"/>
          </a:p>
        </p:txBody>
      </p:sp>
      <p:sp>
        <p:nvSpPr>
          <p:cNvPr id="1048967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graphicFrame>
        <p:nvGraphicFramePr>
          <p:cNvPr id="4194305" name="Table 0"/>
          <p:cNvGraphicFramePr>
            <a:graphicFrameLocks noGrp="1"/>
          </p:cNvGraphicFramePr>
          <p:nvPr/>
        </p:nvGraphicFramePr>
        <p:xfrm>
          <a:off x="365760" y="1261872"/>
          <a:ext cx="11430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463040"/>
                <a:gridCol w="1554480"/>
                <a:gridCol w="1463040"/>
                <a:gridCol w="1554480"/>
                <a:gridCol w="1371600"/>
              </a:tblGrid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Session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Non-Zero Windows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Freq (Hz)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Freq (Hz)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Range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Rate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562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6.24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X-Axis Excit.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(coupled)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2,577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5.93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Z-Axis Excitation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~448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5.49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Hz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0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</a:tbl>
          </a:graphicData>
        </a:graphic>
      </p:graphicFrame>
      <p:sp>
        <p:nvSpPr>
          <p:cNvPr id="1048968" name="Shape 3"/>
          <p:cNvSpPr/>
          <p:nvPr/>
        </p:nvSpPr>
        <p:spPr>
          <a:xfrm>
            <a:off x="365760" y="4407408"/>
            <a:ext cx="274320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69" name="Text 4"/>
          <p:cNvSpPr/>
          <p:nvPr/>
        </p:nvSpPr>
        <p:spPr>
          <a:xfrm>
            <a:off x="411480" y="4480560"/>
            <a:ext cx="26517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5.57–5.94</a:t>
            </a:r>
            <a:endParaRPr dirty="0" sz="3200" lang="en-US"/>
          </a:p>
        </p:txBody>
      </p:sp>
      <p:sp>
        <p:nvSpPr>
          <p:cNvPr id="1048970" name="Text 5"/>
          <p:cNvSpPr/>
          <p:nvPr/>
        </p:nvSpPr>
        <p:spPr>
          <a:xfrm>
            <a:off x="411480" y="5123383"/>
            <a:ext cx="26517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Median Resonance (All-Axis Session)</a:t>
            </a:r>
            <a:endParaRPr dirty="0" sz="900" lang="en-US"/>
          </a:p>
        </p:txBody>
      </p:sp>
      <p:sp>
        <p:nvSpPr>
          <p:cNvPr id="1048971" name="Shape 6"/>
          <p:cNvSpPr/>
          <p:nvPr/>
        </p:nvSpPr>
        <p:spPr>
          <a:xfrm>
            <a:off x="3291840" y="4407408"/>
            <a:ext cx="274320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972" name="Text 7"/>
          <p:cNvSpPr/>
          <p:nvPr/>
        </p:nvSpPr>
        <p:spPr>
          <a:xfrm>
            <a:off x="3337560" y="4480560"/>
            <a:ext cx="26517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5.93 Hz</a:t>
            </a:r>
            <a:endParaRPr dirty="0" sz="3200" lang="en-US"/>
          </a:p>
        </p:txBody>
      </p:sp>
      <p:sp>
        <p:nvSpPr>
          <p:cNvPr id="1048973" name="Text 8"/>
          <p:cNvSpPr/>
          <p:nvPr/>
        </p:nvSpPr>
        <p:spPr>
          <a:xfrm>
            <a:off x="3337560" y="5123383"/>
            <a:ext cx="26517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Session Median (0.05 Hz Spread)</a:t>
            </a:r>
            <a:endParaRPr dirty="0" sz="900" lang="en-US"/>
          </a:p>
        </p:txBody>
      </p:sp>
      <p:sp>
        <p:nvSpPr>
          <p:cNvPr id="1048974" name="Shape 9"/>
          <p:cNvSpPr/>
          <p:nvPr/>
        </p:nvSpPr>
        <p:spPr>
          <a:xfrm>
            <a:off x="6217920" y="4407408"/>
            <a:ext cx="274320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75" name="Text 10"/>
          <p:cNvSpPr/>
          <p:nvPr/>
        </p:nvSpPr>
        <p:spPr>
          <a:xfrm>
            <a:off x="6263640" y="4480560"/>
            <a:ext cx="26517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Hz</a:t>
            </a:r>
            <a:endParaRPr dirty="0" sz="3200" lang="en-US"/>
          </a:p>
        </p:txBody>
      </p:sp>
      <p:sp>
        <p:nvSpPr>
          <p:cNvPr id="1048976" name="Text 11"/>
          <p:cNvSpPr/>
          <p:nvPr/>
        </p:nvSpPr>
        <p:spPr>
          <a:xfrm>
            <a:off x="6263640" y="5123383"/>
            <a:ext cx="26517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Mode Range — System Values Confirmed</a:t>
            </a:r>
            <a:endParaRPr dirty="0" sz="900" lang="en-US"/>
          </a:p>
        </p:txBody>
      </p:sp>
      <p:sp>
        <p:nvSpPr>
          <p:cNvPr id="1048977" name="Shape 12"/>
          <p:cNvSpPr/>
          <p:nvPr/>
        </p:nvSpPr>
        <p:spPr>
          <a:xfrm>
            <a:off x="9125712" y="4407408"/>
            <a:ext cx="274320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978" name="Text 13"/>
          <p:cNvSpPr/>
          <p:nvPr/>
        </p:nvSpPr>
        <p:spPr>
          <a:xfrm>
            <a:off x="9171432" y="4480560"/>
            <a:ext cx="26517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dirty="0" sz="3200" lang="en-US"/>
          </a:p>
        </p:txBody>
      </p:sp>
      <p:sp>
        <p:nvSpPr>
          <p:cNvPr id="1048979" name="Text 14"/>
          <p:cNvSpPr/>
          <p:nvPr/>
        </p:nvSpPr>
        <p:spPr>
          <a:xfrm>
            <a:off x="9171432" y="5123383"/>
            <a:ext cx="26517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Rate Under Active Excitation</a:t>
            </a:r>
            <a:endParaRPr dirty="0" sz="900" lang="en-US"/>
          </a:p>
        </p:txBody>
      </p:sp>
      <p:sp>
        <p:nvSpPr>
          <p:cNvPr id="1048980" name="Text 15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F72"/>
        </a:solidFill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— RESULTS &amp; DISCUSSION</a:t>
            </a:r>
            <a:endParaRPr dirty="0" sz="1100" lang="en-US"/>
          </a:p>
        </p:txBody>
      </p:sp>
      <p:sp>
        <p:nvSpPr>
          <p:cNvPr id="1048985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System Functionality &amp; Web Interface</a:t>
            </a:r>
            <a:endParaRPr dirty="0" sz="2800" lang="en-US"/>
          </a:p>
        </p:txBody>
      </p:sp>
      <p:sp>
        <p:nvSpPr>
          <p:cNvPr id="1048986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graphicFrame>
        <p:nvGraphicFramePr>
          <p:cNvPr id="4194306" name="Table 0"/>
          <p:cNvGraphicFramePr>
            <a:graphicFrameLocks noGrp="1"/>
          </p:cNvGraphicFramePr>
          <p:nvPr/>
        </p:nvGraphicFramePr>
        <p:xfrm>
          <a:off x="365760" y="1261872"/>
          <a:ext cx="7772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011680"/>
                <a:gridCol w="1371600"/>
                <a:gridCol w="1371600"/>
              </a:tblGrid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Session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Transmissions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 Events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All-Axis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16,039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16,039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X-Axis Excitation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13,982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13,982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Y-Axis Excitation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16,004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16,004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4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Z-Axis Excitation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15,867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15,867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00" lang="en-US">
                          <a:solidFill>
                            <a:srgbClr val="F4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61,892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61,892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17A5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dirty="0" sz="11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194307" name="Chart 0" descr=""/>
          <p:cNvGraphicFramePr>
            <a:graphicFrameLocks/>
          </p:cNvGraphicFramePr>
          <p:nvPr/>
        </p:nvGraphicFramePr>
        <p:xfrm>
          <a:off x="8321040" y="123444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987" name="Shape 3"/>
          <p:cNvSpPr/>
          <p:nvPr/>
        </p:nvSpPr>
        <p:spPr>
          <a:xfrm>
            <a:off x="365760" y="4160520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8988" name="Text 4"/>
          <p:cNvSpPr/>
          <p:nvPr/>
        </p:nvSpPr>
        <p:spPr>
          <a:xfrm>
            <a:off x="365760" y="4279392"/>
            <a:ext cx="1133856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End-to-End Confirmation: All 4 test sessions completed with ZERO data loss, ZERO false alerts during idle periods, and continuous 20 Hz dashboard responsiveness throughout.</a:t>
            </a:r>
            <a:endParaRPr dirty="0" sz="1200" lang="en-US"/>
          </a:p>
        </p:txBody>
      </p:sp>
      <p:sp>
        <p:nvSpPr>
          <p:cNvPr id="1048989" name="Shape 5"/>
          <p:cNvSpPr/>
          <p:nvPr/>
        </p:nvSpPr>
        <p:spPr>
          <a:xfrm>
            <a:off x="365760" y="4773168"/>
            <a:ext cx="356616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90" name="Text 6"/>
          <p:cNvSpPr/>
          <p:nvPr/>
        </p:nvSpPr>
        <p:spPr>
          <a:xfrm>
            <a:off x="411480" y="4846320"/>
            <a:ext cx="347472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</a:t>
            </a:r>
            <a:endParaRPr dirty="0" sz="3200" lang="en-US"/>
          </a:p>
        </p:txBody>
      </p:sp>
      <p:sp>
        <p:nvSpPr>
          <p:cNvPr id="1048991" name="Text 7"/>
          <p:cNvSpPr/>
          <p:nvPr/>
        </p:nvSpPr>
        <p:spPr>
          <a:xfrm>
            <a:off x="411480" y="5489143"/>
            <a:ext cx="347472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 Alert Rate — Y-Axis Max Excitation Session</a:t>
            </a:r>
            <a:endParaRPr dirty="0" sz="900" lang="en-US"/>
          </a:p>
        </p:txBody>
      </p:sp>
      <p:sp>
        <p:nvSpPr>
          <p:cNvPr id="1048992" name="Shape 8"/>
          <p:cNvSpPr/>
          <p:nvPr/>
        </p:nvSpPr>
        <p:spPr>
          <a:xfrm>
            <a:off x="4114800" y="4773168"/>
            <a:ext cx="356616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8993" name="Text 9"/>
          <p:cNvSpPr/>
          <p:nvPr/>
        </p:nvSpPr>
        <p:spPr>
          <a:xfrm>
            <a:off x="4160520" y="4846320"/>
            <a:ext cx="347472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ms</a:t>
            </a:r>
            <a:endParaRPr dirty="0" sz="3200" lang="en-US"/>
          </a:p>
        </p:txBody>
      </p:sp>
      <p:sp>
        <p:nvSpPr>
          <p:cNvPr id="1048994" name="Text 10"/>
          <p:cNvSpPr/>
          <p:nvPr/>
        </p:nvSpPr>
        <p:spPr>
          <a:xfrm>
            <a:off x="4160520" y="5489143"/>
            <a:ext cx="347472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 Interval at 20 Hz Polling</a:t>
            </a:r>
            <a:endParaRPr dirty="0" sz="900" lang="en-US"/>
          </a:p>
        </p:txBody>
      </p:sp>
      <p:sp>
        <p:nvSpPr>
          <p:cNvPr id="1048995" name="Shape 11"/>
          <p:cNvSpPr/>
          <p:nvPr/>
        </p:nvSpPr>
        <p:spPr>
          <a:xfrm>
            <a:off x="7863840" y="4773168"/>
            <a:ext cx="365760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8996" name="Text 12"/>
          <p:cNvSpPr/>
          <p:nvPr/>
        </p:nvSpPr>
        <p:spPr>
          <a:xfrm>
            <a:off x="7909560" y="4846320"/>
            <a:ext cx="356616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dirty="0" sz="3200" lang="en-US"/>
          </a:p>
        </p:txBody>
      </p:sp>
      <p:sp>
        <p:nvSpPr>
          <p:cNvPr id="1048997" name="Text 13"/>
          <p:cNvSpPr/>
          <p:nvPr/>
        </p:nvSpPr>
        <p:spPr>
          <a:xfrm>
            <a:off x="7909560" y="5489143"/>
            <a:ext cx="356616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Events Across All 61,892 Transmissions</a:t>
            </a:r>
            <a:endParaRPr dirty="0" sz="900" lang="en-US"/>
          </a:p>
        </p:txBody>
      </p:sp>
      <p:sp>
        <p:nvSpPr>
          <p:cNvPr id="1048998" name="Text 14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F72"/>
        </a:solidFill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— RESULTS &amp; DISCUSSION</a:t>
            </a:r>
            <a:endParaRPr dirty="0" sz="1100" lang="en-US"/>
          </a:p>
        </p:txBody>
      </p:sp>
      <p:sp>
        <p:nvSpPr>
          <p:cNvPr id="1049003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Effectiveness — Objectives vs. Outcomes</a:t>
            </a:r>
            <a:endParaRPr dirty="0" sz="2800" lang="en-US"/>
          </a:p>
        </p:txBody>
      </p:sp>
      <p:sp>
        <p:nvSpPr>
          <p:cNvPr id="1049004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05" name="Shape 3"/>
          <p:cNvSpPr/>
          <p:nvPr/>
        </p:nvSpPr>
        <p:spPr>
          <a:xfrm>
            <a:off x="365760" y="1261872"/>
            <a:ext cx="11430000" cy="329184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9006" name="Text 4"/>
          <p:cNvSpPr/>
          <p:nvPr/>
        </p:nvSpPr>
        <p:spPr>
          <a:xfrm>
            <a:off x="457200" y="1261872"/>
            <a:ext cx="5486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endParaRPr dirty="0" sz="1000" lang="en-US"/>
          </a:p>
        </p:txBody>
      </p:sp>
      <p:sp>
        <p:nvSpPr>
          <p:cNvPr id="1049007" name="Text 5"/>
          <p:cNvSpPr/>
          <p:nvPr/>
        </p:nvSpPr>
        <p:spPr>
          <a:xfrm>
            <a:off x="1097280" y="1261872"/>
            <a:ext cx="20116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dirty="0" sz="1000" lang="en-US"/>
          </a:p>
        </p:txBody>
      </p:sp>
      <p:sp>
        <p:nvSpPr>
          <p:cNvPr id="1049008" name="Text 6"/>
          <p:cNvSpPr/>
          <p:nvPr/>
        </p:nvSpPr>
        <p:spPr>
          <a:xfrm>
            <a:off x="3200400" y="1261872"/>
            <a:ext cx="320040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</a:t>
            </a:r>
            <a:endParaRPr dirty="0" sz="1000" lang="en-US"/>
          </a:p>
        </p:txBody>
      </p:sp>
      <p:sp>
        <p:nvSpPr>
          <p:cNvPr id="1049009" name="Text 7"/>
          <p:cNvSpPr/>
          <p:nvPr/>
        </p:nvSpPr>
        <p:spPr>
          <a:xfrm>
            <a:off x="6492240" y="1261872"/>
            <a:ext cx="502920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</a:t>
            </a:r>
            <a:endParaRPr dirty="0" sz="1000" lang="en-US"/>
          </a:p>
        </p:txBody>
      </p:sp>
      <p:sp>
        <p:nvSpPr>
          <p:cNvPr id="1049010" name="Text 8"/>
          <p:cNvSpPr/>
          <p:nvPr/>
        </p:nvSpPr>
        <p:spPr>
          <a:xfrm>
            <a:off x="11567160" y="1261872"/>
            <a:ext cx="640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dirty="0" sz="1000" lang="en-US"/>
          </a:p>
        </p:txBody>
      </p:sp>
      <p:sp>
        <p:nvSpPr>
          <p:cNvPr id="1049011" name="Shape 9"/>
          <p:cNvSpPr/>
          <p:nvPr/>
        </p:nvSpPr>
        <p:spPr>
          <a:xfrm>
            <a:off x="365760" y="1664208"/>
            <a:ext cx="11430000" cy="1097280"/>
          </a:xfrm>
          <a:prstGeom prst="rect"/>
          <a:solidFill>
            <a:srgbClr val="12344D"/>
          </a:solidFill>
          <a:ln w="6350">
            <a:solidFill>
              <a:srgbClr val="2E5A7A"/>
            </a:solidFill>
            <a:prstDash val="solid"/>
          </a:ln>
        </p:spPr>
      </p:sp>
      <p:sp>
        <p:nvSpPr>
          <p:cNvPr id="1049012" name="Text 10"/>
          <p:cNvSpPr/>
          <p:nvPr/>
        </p:nvSpPr>
        <p:spPr>
          <a:xfrm>
            <a:off x="457200" y="1755648"/>
            <a:ext cx="6400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</a:t>
            </a:r>
            <a:endParaRPr dirty="0" sz="1100" lang="en-US"/>
          </a:p>
        </p:txBody>
      </p:sp>
      <p:sp>
        <p:nvSpPr>
          <p:cNvPr id="1049013" name="Text 11"/>
          <p:cNvSpPr/>
          <p:nvPr/>
        </p:nvSpPr>
        <p:spPr>
          <a:xfrm>
            <a:off x="1097280" y="1755648"/>
            <a:ext cx="20116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SHM Device</a:t>
            </a:r>
            <a:endParaRPr dirty="0" sz="1100" lang="en-US"/>
          </a:p>
        </p:txBody>
      </p:sp>
      <p:sp>
        <p:nvSpPr>
          <p:cNvPr id="1049014" name="Text 12"/>
          <p:cNvSpPr/>
          <p:nvPr/>
        </p:nvSpPr>
        <p:spPr>
          <a:xfrm>
            <a:off x="3200400" y="1755648"/>
            <a:ext cx="3200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operational; continuous data logging across 4 sessions</a:t>
            </a:r>
            <a:endParaRPr dirty="0" sz="1000" lang="en-US"/>
          </a:p>
        </p:txBody>
      </p:sp>
      <p:sp>
        <p:nvSpPr>
          <p:cNvPr id="1049015" name="Text 13"/>
          <p:cNvSpPr/>
          <p:nvPr/>
        </p:nvSpPr>
        <p:spPr>
          <a:xfrm>
            <a:off x="6492240" y="1755648"/>
            <a:ext cx="48463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61,892 records; 100% uptime; all hardware parameters met</a:t>
            </a:r>
            <a:endParaRPr dirty="0" sz="1000" lang="en-US"/>
          </a:p>
        </p:txBody>
      </p:sp>
      <p:sp>
        <p:nvSpPr>
          <p:cNvPr id="1049016" name="Text 14"/>
          <p:cNvSpPr/>
          <p:nvPr/>
        </p:nvSpPr>
        <p:spPr>
          <a:xfrm>
            <a:off x="11521440" y="1984248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dirty="0" sz="1600" lang="en-US"/>
          </a:p>
        </p:txBody>
      </p:sp>
      <p:sp>
        <p:nvSpPr>
          <p:cNvPr id="1049017" name="Shape 15"/>
          <p:cNvSpPr/>
          <p:nvPr/>
        </p:nvSpPr>
        <p:spPr>
          <a:xfrm>
            <a:off x="365760" y="2852928"/>
            <a:ext cx="11430000" cy="1097280"/>
          </a:xfrm>
          <a:prstGeom prst="rect"/>
          <a:solidFill>
            <a:srgbClr val="1B4F72"/>
          </a:solidFill>
          <a:ln w="6350">
            <a:solidFill>
              <a:srgbClr val="2E5A7A"/>
            </a:solidFill>
            <a:prstDash val="solid"/>
          </a:ln>
        </p:spPr>
      </p:sp>
      <p:sp>
        <p:nvSpPr>
          <p:cNvPr id="1049018" name="Text 16"/>
          <p:cNvSpPr/>
          <p:nvPr/>
        </p:nvSpPr>
        <p:spPr>
          <a:xfrm>
            <a:off x="457200" y="2944368"/>
            <a:ext cx="6400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</a:t>
            </a:r>
            <a:endParaRPr dirty="0" sz="1100" lang="en-US"/>
          </a:p>
        </p:txBody>
      </p:sp>
      <p:sp>
        <p:nvSpPr>
          <p:cNvPr id="1049019" name="Text 17"/>
          <p:cNvSpPr/>
          <p:nvPr/>
        </p:nvSpPr>
        <p:spPr>
          <a:xfrm>
            <a:off x="1097280" y="2944368"/>
            <a:ext cx="20116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 Frequency Extraction</a:t>
            </a:r>
            <a:endParaRPr dirty="0" sz="1100" lang="en-US"/>
          </a:p>
        </p:txBody>
      </p:sp>
      <p:sp>
        <p:nvSpPr>
          <p:cNvPr id="1049020" name="Text 18"/>
          <p:cNvSpPr/>
          <p:nvPr/>
        </p:nvSpPr>
        <p:spPr>
          <a:xfrm>
            <a:off x="3200400" y="2944368"/>
            <a:ext cx="3200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frequency identification across repeated tests</a:t>
            </a:r>
            <a:endParaRPr dirty="0" sz="1000" lang="en-US"/>
          </a:p>
        </p:txBody>
      </p:sp>
      <p:sp>
        <p:nvSpPr>
          <p:cNvPr id="1049021" name="Text 19"/>
          <p:cNvSpPr/>
          <p:nvPr/>
        </p:nvSpPr>
        <p:spPr>
          <a:xfrm>
            <a:off x="6492240" y="2944368"/>
            <a:ext cx="48463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5.57–5.94 Hz (All-Axis); 5.93 Hz (Y-session); stable across all sessions</a:t>
            </a:r>
            <a:endParaRPr dirty="0" sz="1000" lang="en-US"/>
          </a:p>
        </p:txBody>
      </p:sp>
      <p:sp>
        <p:nvSpPr>
          <p:cNvPr id="1049022" name="Text 20"/>
          <p:cNvSpPr/>
          <p:nvPr/>
        </p:nvSpPr>
        <p:spPr>
          <a:xfrm>
            <a:off x="11521440" y="3172968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dirty="0" sz="1600" lang="en-US"/>
          </a:p>
        </p:txBody>
      </p:sp>
      <p:sp>
        <p:nvSpPr>
          <p:cNvPr id="1049023" name="Shape 21"/>
          <p:cNvSpPr/>
          <p:nvPr/>
        </p:nvSpPr>
        <p:spPr>
          <a:xfrm>
            <a:off x="365760" y="4041648"/>
            <a:ext cx="11430000" cy="1097280"/>
          </a:xfrm>
          <a:prstGeom prst="rect"/>
          <a:solidFill>
            <a:srgbClr val="12344D"/>
          </a:solidFill>
          <a:ln w="6350">
            <a:solidFill>
              <a:srgbClr val="2E5A7A"/>
            </a:solidFill>
            <a:prstDash val="solid"/>
          </a:ln>
        </p:spPr>
      </p:sp>
      <p:sp>
        <p:nvSpPr>
          <p:cNvPr id="1049024" name="Text 22"/>
          <p:cNvSpPr/>
          <p:nvPr/>
        </p:nvSpPr>
        <p:spPr>
          <a:xfrm>
            <a:off x="457200" y="4133088"/>
            <a:ext cx="6400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</a:t>
            </a:r>
            <a:endParaRPr dirty="0" sz="1100" lang="en-US"/>
          </a:p>
        </p:txBody>
      </p:sp>
      <p:sp>
        <p:nvSpPr>
          <p:cNvPr id="1049025" name="Text 23"/>
          <p:cNvSpPr/>
          <p:nvPr/>
        </p:nvSpPr>
        <p:spPr>
          <a:xfrm>
            <a:off x="1097280" y="4133088"/>
            <a:ext cx="20116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Interface</a:t>
            </a:r>
            <a:endParaRPr dirty="0" sz="1100" lang="en-US"/>
          </a:p>
        </p:txBody>
      </p:sp>
      <p:sp>
        <p:nvSpPr>
          <p:cNvPr id="1049026" name="Text 24"/>
          <p:cNvSpPr/>
          <p:nvPr/>
        </p:nvSpPr>
        <p:spPr>
          <a:xfrm>
            <a:off x="3200400" y="4133088"/>
            <a:ext cx="3200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operates without failure; live data at 20 Hz</a:t>
            </a:r>
            <a:endParaRPr dirty="0" sz="1000" lang="en-US"/>
          </a:p>
        </p:txBody>
      </p:sp>
      <p:sp>
        <p:nvSpPr>
          <p:cNvPr id="1049027" name="Text 25"/>
          <p:cNvSpPr/>
          <p:nvPr/>
        </p:nvSpPr>
        <p:spPr>
          <a:xfrm>
            <a:off x="6492240" y="4133088"/>
            <a:ext cx="48463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Hz polling; 0 transmission failures; 3D simulation responsive to all state changes</a:t>
            </a:r>
            <a:endParaRPr dirty="0" sz="1000" lang="en-US"/>
          </a:p>
        </p:txBody>
      </p:sp>
      <p:sp>
        <p:nvSpPr>
          <p:cNvPr id="1049028" name="Text 26"/>
          <p:cNvSpPr/>
          <p:nvPr/>
        </p:nvSpPr>
        <p:spPr>
          <a:xfrm>
            <a:off x="11521440" y="4361688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dirty="0" sz="1600" lang="en-US"/>
          </a:p>
        </p:txBody>
      </p:sp>
      <p:sp>
        <p:nvSpPr>
          <p:cNvPr id="1049029" name="Shape 27"/>
          <p:cNvSpPr/>
          <p:nvPr/>
        </p:nvSpPr>
        <p:spPr>
          <a:xfrm>
            <a:off x="365760" y="5230368"/>
            <a:ext cx="11430000" cy="1097280"/>
          </a:xfrm>
          <a:prstGeom prst="rect"/>
          <a:solidFill>
            <a:srgbClr val="1B4F72"/>
          </a:solidFill>
          <a:ln w="6350">
            <a:solidFill>
              <a:srgbClr val="2E5A7A"/>
            </a:solidFill>
            <a:prstDash val="solid"/>
          </a:ln>
        </p:spPr>
      </p:sp>
      <p:sp>
        <p:nvSpPr>
          <p:cNvPr id="1049030" name="Text 28"/>
          <p:cNvSpPr/>
          <p:nvPr/>
        </p:nvSpPr>
        <p:spPr>
          <a:xfrm>
            <a:off x="457200" y="5321808"/>
            <a:ext cx="6400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</a:t>
            </a:r>
            <a:endParaRPr dirty="0" sz="1100" lang="en-US"/>
          </a:p>
        </p:txBody>
      </p:sp>
      <p:sp>
        <p:nvSpPr>
          <p:cNvPr id="1049031" name="Text 29"/>
          <p:cNvSpPr/>
          <p:nvPr/>
        </p:nvSpPr>
        <p:spPr>
          <a:xfrm>
            <a:off x="1097280" y="5321808"/>
            <a:ext cx="201168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Effectiveness</a:t>
            </a:r>
            <a:endParaRPr dirty="0" sz="1100" lang="en-US"/>
          </a:p>
        </p:txBody>
      </p:sp>
      <p:sp>
        <p:nvSpPr>
          <p:cNvPr id="1049032" name="Text 30"/>
          <p:cNvSpPr/>
          <p:nvPr/>
        </p:nvSpPr>
        <p:spPr>
          <a:xfrm>
            <a:off x="3200400" y="5321808"/>
            <a:ext cx="320040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alert triggering and intensity-mapped visualization</a:t>
            </a:r>
            <a:endParaRPr dirty="0" sz="1000" lang="en-US"/>
          </a:p>
        </p:txBody>
      </p:sp>
      <p:sp>
        <p:nvSpPr>
          <p:cNvPr id="1049033" name="Text 31"/>
          <p:cNvSpPr/>
          <p:nvPr/>
        </p:nvSpPr>
        <p:spPr>
          <a:xfrm>
            <a:off x="6492240" y="5321808"/>
            <a:ext cx="484632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 alerts correctly triggered; 97.6% rate at max excitation; peak intensity = 1.000 detected</a:t>
            </a:r>
            <a:endParaRPr dirty="0" sz="1000" lang="en-US"/>
          </a:p>
        </p:txBody>
      </p:sp>
      <p:sp>
        <p:nvSpPr>
          <p:cNvPr id="1049034" name="Text 32"/>
          <p:cNvSpPr/>
          <p:nvPr/>
        </p:nvSpPr>
        <p:spPr>
          <a:xfrm>
            <a:off x="11521440" y="5550408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600" lang="en-US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dirty="0" sz="1600" lang="en-US"/>
          </a:p>
        </p:txBody>
      </p:sp>
      <p:sp>
        <p:nvSpPr>
          <p:cNvPr id="1049035" name="Text 33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F72"/>
        </a:solidFill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9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— SUMMARY &amp; CONCLUSIONS</a:t>
            </a:r>
            <a:endParaRPr dirty="0" sz="1100" lang="en-US"/>
          </a:p>
        </p:txBody>
      </p:sp>
      <p:sp>
        <p:nvSpPr>
          <p:cNvPr id="1049040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dirty="0" sz="2800" lang="en-US"/>
          </a:p>
        </p:txBody>
      </p:sp>
      <p:sp>
        <p:nvSpPr>
          <p:cNvPr id="1049041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42" name="Shape 3"/>
          <p:cNvSpPr/>
          <p:nvPr/>
        </p:nvSpPr>
        <p:spPr>
          <a:xfrm>
            <a:off x="365760" y="1408176"/>
            <a:ext cx="502920" cy="50292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43" name="Text 4"/>
          <p:cNvSpPr/>
          <p:nvPr/>
        </p:nvSpPr>
        <p:spPr>
          <a:xfrm>
            <a:off x="365760" y="1408176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dirty="0" sz="1600" lang="en-US"/>
          </a:p>
        </p:txBody>
      </p:sp>
      <p:sp>
        <p:nvSpPr>
          <p:cNvPr id="1049044" name="Text 5"/>
          <p:cNvSpPr/>
          <p:nvPr/>
        </p:nvSpPr>
        <p:spPr>
          <a:xfrm>
            <a:off x="960120" y="1426464"/>
            <a:ext cx="82296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</a:t>
            </a:r>
            <a:endParaRPr dirty="0" sz="1000" lang="en-US"/>
          </a:p>
        </p:txBody>
      </p:sp>
      <p:sp>
        <p:nvSpPr>
          <p:cNvPr id="1049045" name="Text 6"/>
          <p:cNvSpPr/>
          <p:nvPr/>
        </p:nvSpPr>
        <p:spPr>
          <a:xfrm>
            <a:off x="960120" y="1700784"/>
            <a:ext cx="105156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SHM Device Successfully Developed</a:t>
            </a:r>
            <a:endParaRPr dirty="0" sz="1300" lang="en-US"/>
          </a:p>
        </p:txBody>
      </p:sp>
      <p:sp>
        <p:nvSpPr>
          <p:cNvPr id="1049046" name="Text 7"/>
          <p:cNvSpPr/>
          <p:nvPr/>
        </p:nvSpPr>
        <p:spPr>
          <a:xfrm>
            <a:off x="960120" y="2011680"/>
            <a:ext cx="1051560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frequency monitoring device was developed using the ESP32-S3 and three MPU-6050 MEMS IMU sensors. The system reliably logged 61,892 data records across four test sessions with 100% transmission success and zero hardware failures.</a:t>
            </a:r>
            <a:endParaRPr dirty="0" sz="1000" lang="en-US"/>
          </a:p>
        </p:txBody>
      </p:sp>
      <p:sp>
        <p:nvSpPr>
          <p:cNvPr id="1049047" name="Shape 8"/>
          <p:cNvSpPr/>
          <p:nvPr/>
        </p:nvSpPr>
        <p:spPr>
          <a:xfrm>
            <a:off x="365760" y="2633472"/>
            <a:ext cx="502920" cy="50292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48" name="Text 9"/>
          <p:cNvSpPr/>
          <p:nvPr/>
        </p:nvSpPr>
        <p:spPr>
          <a:xfrm>
            <a:off x="365760" y="2633472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dirty="0" sz="1600" lang="en-US"/>
          </a:p>
        </p:txBody>
      </p:sp>
      <p:sp>
        <p:nvSpPr>
          <p:cNvPr id="1049049" name="Text 10"/>
          <p:cNvSpPr/>
          <p:nvPr/>
        </p:nvSpPr>
        <p:spPr>
          <a:xfrm>
            <a:off x="960120" y="2651760"/>
            <a:ext cx="82296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</a:t>
            </a:r>
            <a:endParaRPr dirty="0" sz="1000" lang="en-US"/>
          </a:p>
        </p:txBody>
      </p:sp>
      <p:sp>
        <p:nvSpPr>
          <p:cNvPr id="1049050" name="Text 11"/>
          <p:cNvSpPr/>
          <p:nvPr/>
        </p:nvSpPr>
        <p:spPr>
          <a:xfrm>
            <a:off x="960120" y="2926080"/>
            <a:ext cx="105156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FFT-Based Resonance Extraction Validated</a:t>
            </a:r>
            <a:endParaRPr dirty="0" sz="1300" lang="en-US"/>
          </a:p>
        </p:txBody>
      </p:sp>
      <p:sp>
        <p:nvSpPr>
          <p:cNvPr id="1049051" name="Text 12"/>
          <p:cNvSpPr/>
          <p:nvPr/>
        </p:nvSpPr>
        <p:spPr>
          <a:xfrm>
            <a:off x="960120" y="3236976"/>
            <a:ext cx="1051560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Hamming-windowed 1024-point FFT pipeline successfully extracted dominant resonance frequencies (5.57–5.94 Hz, All-Axis session) consistent with known bridge deck vibration modes (2–10 Hz). The Y-Axis session achieved a median-to-mean difference of only 0.05 Hz, confirming algorithm stability.</a:t>
            </a:r>
            <a:endParaRPr dirty="0" sz="1000" lang="en-US"/>
          </a:p>
        </p:txBody>
      </p:sp>
      <p:sp>
        <p:nvSpPr>
          <p:cNvPr id="1049052" name="Shape 13"/>
          <p:cNvSpPr/>
          <p:nvPr/>
        </p:nvSpPr>
        <p:spPr>
          <a:xfrm>
            <a:off x="365760" y="3858768"/>
            <a:ext cx="502920" cy="50292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53" name="Text 14"/>
          <p:cNvSpPr/>
          <p:nvPr/>
        </p:nvSpPr>
        <p:spPr>
          <a:xfrm>
            <a:off x="365760" y="3858768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dirty="0" sz="1600" lang="en-US"/>
          </a:p>
        </p:txBody>
      </p:sp>
      <p:sp>
        <p:nvSpPr>
          <p:cNvPr id="1049054" name="Text 15"/>
          <p:cNvSpPr/>
          <p:nvPr/>
        </p:nvSpPr>
        <p:spPr>
          <a:xfrm>
            <a:off x="960120" y="3877056"/>
            <a:ext cx="82296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3</a:t>
            </a:r>
            <a:endParaRPr dirty="0" sz="1000" lang="en-US"/>
          </a:p>
        </p:txBody>
      </p:sp>
      <p:sp>
        <p:nvSpPr>
          <p:cNvPr id="1049055" name="Text 16"/>
          <p:cNvSpPr/>
          <p:nvPr/>
        </p:nvSpPr>
        <p:spPr>
          <a:xfrm>
            <a:off x="960120" y="4151376"/>
            <a:ext cx="105156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Interface Deployed</a:t>
            </a:r>
            <a:endParaRPr dirty="0" sz="1300" lang="en-US"/>
          </a:p>
        </p:txBody>
      </p:sp>
      <p:sp>
        <p:nvSpPr>
          <p:cNvPr id="1049056" name="Text 17"/>
          <p:cNvSpPr/>
          <p:nvPr/>
        </p:nvSpPr>
        <p:spPr>
          <a:xfrm>
            <a:off x="960120" y="4462272"/>
            <a:ext cx="1051560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web-based dashboard — hosted on the ESP32-S3 itself — operated at a sustained 20 Hz polling rate with zero dashboard failures. The 3D fabric-ripple simulation and CRIT/WARN/OK state indicators provided clear, real-time representation of vibration activity across all test conditions.</a:t>
            </a:r>
            <a:endParaRPr dirty="0" sz="1000" lang="en-US"/>
          </a:p>
        </p:txBody>
      </p:sp>
      <p:sp>
        <p:nvSpPr>
          <p:cNvPr id="1049057" name="Shape 18"/>
          <p:cNvSpPr/>
          <p:nvPr/>
        </p:nvSpPr>
        <p:spPr>
          <a:xfrm>
            <a:off x="365760" y="5084064"/>
            <a:ext cx="502920" cy="50292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58" name="Text 19"/>
          <p:cNvSpPr/>
          <p:nvPr/>
        </p:nvSpPr>
        <p:spPr>
          <a:xfrm>
            <a:off x="365760" y="5084064"/>
            <a:ext cx="50292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dirty="0" sz="1600" lang="en-US"/>
          </a:p>
        </p:txBody>
      </p:sp>
      <p:sp>
        <p:nvSpPr>
          <p:cNvPr id="1049059" name="Text 20"/>
          <p:cNvSpPr/>
          <p:nvPr/>
        </p:nvSpPr>
        <p:spPr>
          <a:xfrm>
            <a:off x="960120" y="5102352"/>
            <a:ext cx="82296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4</a:t>
            </a:r>
            <a:endParaRPr dirty="0" sz="1000" lang="en-US"/>
          </a:p>
        </p:txBody>
      </p:sp>
      <p:sp>
        <p:nvSpPr>
          <p:cNvPr id="1049060" name="Text 21"/>
          <p:cNvSpPr/>
          <p:nvPr/>
        </p:nvSpPr>
        <p:spPr>
          <a:xfrm>
            <a:off x="960120" y="5376672"/>
            <a:ext cx="10515600" cy="31089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Effectiveness Demonstrated</a:t>
            </a:r>
            <a:endParaRPr dirty="0" sz="1300" lang="en-US"/>
          </a:p>
        </p:txBody>
      </p:sp>
      <p:sp>
        <p:nvSpPr>
          <p:cNvPr id="1049061" name="Text 22"/>
          <p:cNvSpPr/>
          <p:nvPr/>
        </p:nvSpPr>
        <p:spPr>
          <a:xfrm>
            <a:off x="960120" y="5687568"/>
            <a:ext cx="10515600" cy="43891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CRIT-level alerts were triggered correctly in all sessions where excitation exceeded the defined threshold. During Y-Axis maximum excitation, 97.6% of active readings triggered CRIT alerts with no false positives during idle periods — confirming reliable anomaly detection capability.</a:t>
            </a:r>
            <a:endParaRPr dirty="0" sz="1000" lang="en-US"/>
          </a:p>
        </p:txBody>
      </p:sp>
      <p:sp>
        <p:nvSpPr>
          <p:cNvPr id="1049062" name="Text 23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F72"/>
        </a:solidFill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6" name="Text 0"/>
          <p:cNvSpPr/>
          <p:nvPr/>
        </p:nvSpPr>
        <p:spPr>
          <a:xfrm>
            <a:off x="365760" y="182880"/>
            <a:ext cx="5486400" cy="24688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IV — RECOMMENDATIONS</a:t>
            </a:r>
            <a:endParaRPr dirty="0" sz="1100" lang="en-US"/>
          </a:p>
        </p:txBody>
      </p:sp>
      <p:sp>
        <p:nvSpPr>
          <p:cNvPr id="1049067" name="Text 1"/>
          <p:cNvSpPr/>
          <p:nvPr/>
        </p:nvSpPr>
        <p:spPr>
          <a:xfrm>
            <a:off x="365760" y="457200"/>
            <a:ext cx="1133856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Future Work</a:t>
            </a:r>
            <a:endParaRPr dirty="0" sz="2800" lang="en-US"/>
          </a:p>
        </p:txBody>
      </p:sp>
      <p:sp>
        <p:nvSpPr>
          <p:cNvPr id="1049068" name="Shape 2"/>
          <p:cNvSpPr/>
          <p:nvPr/>
        </p:nvSpPr>
        <p:spPr>
          <a:xfrm>
            <a:off x="365760" y="1115568"/>
            <a:ext cx="1133856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69" name="Shape 3"/>
          <p:cNvSpPr/>
          <p:nvPr/>
        </p:nvSpPr>
        <p:spPr>
          <a:xfrm>
            <a:off x="365760" y="1435608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70" name="Text 4"/>
          <p:cNvSpPr/>
          <p:nvPr/>
        </p:nvSpPr>
        <p:spPr>
          <a:xfrm>
            <a:off x="365760" y="1444752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300" lang="en-US"/>
          </a:p>
        </p:txBody>
      </p:sp>
      <p:sp>
        <p:nvSpPr>
          <p:cNvPr id="1049071" name="Text 5"/>
          <p:cNvSpPr/>
          <p:nvPr/>
        </p:nvSpPr>
        <p:spPr>
          <a:xfrm>
            <a:off x="804672" y="1435608"/>
            <a:ext cx="50749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Miniaturization &amp; Field Deployment</a:t>
            </a:r>
            <a:endParaRPr dirty="0" sz="1300" lang="en-US"/>
          </a:p>
        </p:txBody>
      </p:sp>
      <p:sp>
        <p:nvSpPr>
          <p:cNvPr id="1049072" name="Shape 6"/>
          <p:cNvSpPr/>
          <p:nvPr/>
        </p:nvSpPr>
        <p:spPr>
          <a:xfrm>
            <a:off x="365760" y="1847088"/>
            <a:ext cx="54864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73" name="Text 7"/>
          <p:cNvSpPr/>
          <p:nvPr/>
        </p:nvSpPr>
        <p:spPr>
          <a:xfrm>
            <a:off x="365760" y="1938528"/>
            <a:ext cx="55778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custom PCB with proper impedance matching and USB signal integrity to achieve a fully miniaturized, weatherproof, field-deployable unit suitable for actual bridge installation.</a:t>
            </a:r>
            <a:endParaRPr dirty="0" sz="1100" lang="en-US"/>
          </a:p>
        </p:txBody>
      </p:sp>
      <p:sp>
        <p:nvSpPr>
          <p:cNvPr id="1049074" name="Shape 8"/>
          <p:cNvSpPr/>
          <p:nvPr/>
        </p:nvSpPr>
        <p:spPr>
          <a:xfrm>
            <a:off x="6583680" y="1435608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75" name="Text 9"/>
          <p:cNvSpPr/>
          <p:nvPr/>
        </p:nvSpPr>
        <p:spPr>
          <a:xfrm>
            <a:off x="6583680" y="1444752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300" lang="en-US"/>
          </a:p>
        </p:txBody>
      </p:sp>
      <p:sp>
        <p:nvSpPr>
          <p:cNvPr id="1049076" name="Text 10"/>
          <p:cNvSpPr/>
          <p:nvPr/>
        </p:nvSpPr>
        <p:spPr>
          <a:xfrm>
            <a:off x="7022592" y="1435608"/>
            <a:ext cx="50749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Sensor Network</a:t>
            </a:r>
            <a:endParaRPr dirty="0" sz="1300" lang="en-US"/>
          </a:p>
        </p:txBody>
      </p:sp>
      <p:sp>
        <p:nvSpPr>
          <p:cNvPr id="1049077" name="Shape 11"/>
          <p:cNvSpPr/>
          <p:nvPr/>
        </p:nvSpPr>
        <p:spPr>
          <a:xfrm>
            <a:off x="6583680" y="1847088"/>
            <a:ext cx="54864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78" name="Text 12"/>
          <p:cNvSpPr/>
          <p:nvPr/>
        </p:nvSpPr>
        <p:spPr>
          <a:xfrm>
            <a:off x="6583680" y="1938528"/>
            <a:ext cx="55778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sensor network beyond the current 3-node prototype to cover more structural points along the bridge span, enabling mode shape extraction and spatial anomaly localization.</a:t>
            </a:r>
            <a:endParaRPr dirty="0" sz="1100" lang="en-US"/>
          </a:p>
        </p:txBody>
      </p:sp>
      <p:sp>
        <p:nvSpPr>
          <p:cNvPr id="1049079" name="Shape 13"/>
          <p:cNvSpPr/>
          <p:nvPr/>
        </p:nvSpPr>
        <p:spPr>
          <a:xfrm>
            <a:off x="365760" y="3099816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80" name="Text 14"/>
          <p:cNvSpPr/>
          <p:nvPr/>
        </p:nvSpPr>
        <p:spPr>
          <a:xfrm>
            <a:off x="365760" y="3108960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300" lang="en-US"/>
          </a:p>
        </p:txBody>
      </p:sp>
      <p:sp>
        <p:nvSpPr>
          <p:cNvPr id="1049081" name="Text 15"/>
          <p:cNvSpPr/>
          <p:nvPr/>
        </p:nvSpPr>
        <p:spPr>
          <a:xfrm>
            <a:off x="804672" y="3099816"/>
            <a:ext cx="50749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 Integration</a:t>
            </a:r>
            <a:endParaRPr dirty="0" sz="1300" lang="en-US"/>
          </a:p>
        </p:txBody>
      </p:sp>
      <p:sp>
        <p:nvSpPr>
          <p:cNvPr id="1049082" name="Shape 16"/>
          <p:cNvSpPr/>
          <p:nvPr/>
        </p:nvSpPr>
        <p:spPr>
          <a:xfrm>
            <a:off x="365760" y="3511296"/>
            <a:ext cx="54864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83" name="Text 17"/>
          <p:cNvSpPr/>
          <p:nvPr/>
        </p:nvSpPr>
        <p:spPr>
          <a:xfrm>
            <a:off x="365760" y="3602736"/>
            <a:ext cx="55778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cloud platforms (ThingSpeak, AWS IoT, or similar) to enable long-term data logging, remote access for infrastructure managers, and automated alert notifications to disaster risk officers.</a:t>
            </a:r>
            <a:endParaRPr dirty="0" sz="1100" lang="en-US"/>
          </a:p>
        </p:txBody>
      </p:sp>
      <p:sp>
        <p:nvSpPr>
          <p:cNvPr id="1049084" name="Shape 18"/>
          <p:cNvSpPr/>
          <p:nvPr/>
        </p:nvSpPr>
        <p:spPr>
          <a:xfrm>
            <a:off x="6583680" y="3099816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85" name="Text 19"/>
          <p:cNvSpPr/>
          <p:nvPr/>
        </p:nvSpPr>
        <p:spPr>
          <a:xfrm>
            <a:off x="6583680" y="3108960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300" lang="en-US"/>
          </a:p>
        </p:txBody>
      </p:sp>
      <p:sp>
        <p:nvSpPr>
          <p:cNvPr id="1049086" name="Text 20"/>
          <p:cNvSpPr/>
          <p:nvPr/>
        </p:nvSpPr>
        <p:spPr>
          <a:xfrm>
            <a:off x="7022592" y="3099816"/>
            <a:ext cx="50749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Solar/Battery Power Supply</a:t>
            </a:r>
            <a:endParaRPr dirty="0" sz="1300" lang="en-US"/>
          </a:p>
        </p:txBody>
      </p:sp>
      <p:sp>
        <p:nvSpPr>
          <p:cNvPr id="1049087" name="Shape 21"/>
          <p:cNvSpPr/>
          <p:nvPr/>
        </p:nvSpPr>
        <p:spPr>
          <a:xfrm>
            <a:off x="6583680" y="3511296"/>
            <a:ext cx="54864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88" name="Text 22"/>
          <p:cNvSpPr/>
          <p:nvPr/>
        </p:nvSpPr>
        <p:spPr>
          <a:xfrm>
            <a:off x="6583680" y="3602736"/>
            <a:ext cx="55778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solar-charged battery system to ensure continuous 24/7 operation in field conditions where grid power is unavailable, particularly for bridges in remote or disaster-prone locations.</a:t>
            </a:r>
            <a:endParaRPr dirty="0" sz="1100" lang="en-US"/>
          </a:p>
        </p:txBody>
      </p:sp>
      <p:sp>
        <p:nvSpPr>
          <p:cNvPr id="1049089" name="Shape 23"/>
          <p:cNvSpPr/>
          <p:nvPr/>
        </p:nvSpPr>
        <p:spPr>
          <a:xfrm>
            <a:off x="365760" y="4764024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90" name="Text 24"/>
          <p:cNvSpPr/>
          <p:nvPr/>
        </p:nvSpPr>
        <p:spPr>
          <a:xfrm>
            <a:off x="365760" y="4773168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300" lang="en-US"/>
          </a:p>
        </p:txBody>
      </p:sp>
      <p:sp>
        <p:nvSpPr>
          <p:cNvPr id="1049091" name="Text 25"/>
          <p:cNvSpPr/>
          <p:nvPr/>
        </p:nvSpPr>
        <p:spPr>
          <a:xfrm>
            <a:off x="804672" y="4764024"/>
            <a:ext cx="50749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Integration</a:t>
            </a:r>
            <a:endParaRPr dirty="0" sz="1300" lang="en-US"/>
          </a:p>
        </p:txBody>
      </p:sp>
      <p:sp>
        <p:nvSpPr>
          <p:cNvPr id="1049092" name="Shape 26"/>
          <p:cNvSpPr/>
          <p:nvPr/>
        </p:nvSpPr>
        <p:spPr>
          <a:xfrm>
            <a:off x="365760" y="5175504"/>
            <a:ext cx="54864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93" name="Text 27"/>
          <p:cNvSpPr/>
          <p:nvPr/>
        </p:nvSpPr>
        <p:spPr>
          <a:xfrm>
            <a:off x="365760" y="5266944"/>
            <a:ext cx="55778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ML-based anomaly classification (e.g., autoencoders or LSTM models) trained on baseline frequency signatures to enable predictive detection of progressive structural degradation.</a:t>
            </a:r>
            <a:endParaRPr dirty="0" sz="1100" lang="en-US"/>
          </a:p>
        </p:txBody>
      </p:sp>
      <p:sp>
        <p:nvSpPr>
          <p:cNvPr id="1049094" name="Shape 28"/>
          <p:cNvSpPr/>
          <p:nvPr/>
        </p:nvSpPr>
        <p:spPr>
          <a:xfrm>
            <a:off x="6583680" y="4764024"/>
            <a:ext cx="347472" cy="347472"/>
          </a:xfrm>
          <a:prstGeom prst="ellipse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095" name="Text 29"/>
          <p:cNvSpPr/>
          <p:nvPr/>
        </p:nvSpPr>
        <p:spPr>
          <a:xfrm>
            <a:off x="6583680" y="4773168"/>
            <a:ext cx="347472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300" lang="en-US"/>
          </a:p>
        </p:txBody>
      </p:sp>
      <p:sp>
        <p:nvSpPr>
          <p:cNvPr id="1049096" name="Text 30"/>
          <p:cNvSpPr/>
          <p:nvPr/>
        </p:nvSpPr>
        <p:spPr>
          <a:xfrm>
            <a:off x="7022592" y="4764024"/>
            <a:ext cx="507492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Field Validation</a:t>
            </a:r>
            <a:endParaRPr dirty="0" sz="1300" lang="en-US"/>
          </a:p>
        </p:txBody>
      </p:sp>
      <p:sp>
        <p:nvSpPr>
          <p:cNvPr id="1049097" name="Shape 31"/>
          <p:cNvSpPr/>
          <p:nvPr/>
        </p:nvSpPr>
        <p:spPr>
          <a:xfrm>
            <a:off x="6583680" y="5175504"/>
            <a:ext cx="548640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098" name="Text 32"/>
          <p:cNvSpPr/>
          <p:nvPr/>
        </p:nvSpPr>
        <p:spPr>
          <a:xfrm>
            <a:off x="6583680" y="5266944"/>
            <a:ext cx="5577840" cy="9144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full-scale bridge deployment testing under real ambient conditions (traffic, wind, seismic activity) to validate system performance beyond the controlled laboratory environment.</a:t>
            </a:r>
            <a:endParaRPr dirty="0" sz="1100" lang="en-US"/>
          </a:p>
        </p:txBody>
      </p:sp>
      <p:sp>
        <p:nvSpPr>
          <p:cNvPr id="1049099" name="Text 33"/>
          <p:cNvSpPr/>
          <p:nvPr/>
        </p:nvSpPr>
        <p:spPr>
          <a:xfrm>
            <a:off x="320040" y="6601968"/>
            <a:ext cx="11548872" cy="2011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8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Monitoring SHM System  |  Cagayan State University – Carig Campus  |  BSECE 2026</a:t>
            </a:r>
            <a:endParaRPr dirty="0" sz="8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F72"/>
        </a:solidFill>
      </p:bgPr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Image 0" descr="/mnt/user-data/uploads/cropped_circle_image__1_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394960" y="320040"/>
            <a:ext cx="1371600" cy="1371600"/>
          </a:xfrm>
          <a:prstGeom prst="rect"/>
        </p:spPr>
      </p:pic>
      <p:sp>
        <p:nvSpPr>
          <p:cNvPr id="1049103" name="Text 0"/>
          <p:cNvSpPr/>
          <p:nvPr/>
        </p:nvSpPr>
        <p:spPr>
          <a:xfrm>
            <a:off x="365760" y="1874520"/>
            <a:ext cx="1143000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dirty="0" sz="4800" lang="en-US"/>
          </a:p>
        </p:txBody>
      </p:sp>
      <p:sp>
        <p:nvSpPr>
          <p:cNvPr id="1049104" name="Text 1"/>
          <p:cNvSpPr/>
          <p:nvPr/>
        </p:nvSpPr>
        <p:spPr>
          <a:xfrm>
            <a:off x="365760" y="2697480"/>
            <a:ext cx="114300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000" lang="en-US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dirty="0" sz="2000" lang="en-US"/>
          </a:p>
        </p:txBody>
      </p:sp>
      <p:sp>
        <p:nvSpPr>
          <p:cNvPr id="1049105" name="Shape 2"/>
          <p:cNvSpPr/>
          <p:nvPr/>
        </p:nvSpPr>
        <p:spPr>
          <a:xfrm>
            <a:off x="1828800" y="3200400"/>
            <a:ext cx="8503920" cy="0"/>
          </a:xfrm>
          <a:prstGeom prst="line"/>
          <a:noFill/>
          <a:ln w="9525">
            <a:solidFill>
              <a:srgbClr val="2E86C1"/>
            </a:solidFill>
            <a:prstDash val="solid"/>
          </a:ln>
        </p:spPr>
      </p:sp>
      <p:sp>
        <p:nvSpPr>
          <p:cNvPr id="1049106" name="Text 3"/>
          <p:cNvSpPr/>
          <p:nvPr/>
        </p:nvSpPr>
        <p:spPr>
          <a:xfrm>
            <a:off x="365760" y="3337560"/>
            <a:ext cx="1143000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Ayessa Marie Ramos  ·  Jan Clyde Talosig  ·  Shamel Alliyah Senosn  ·  Gemini Almoite</a:t>
            </a:r>
            <a:endParaRPr dirty="0" sz="1200" lang="en-US"/>
          </a:p>
        </p:txBody>
      </p:sp>
      <p:sp>
        <p:nvSpPr>
          <p:cNvPr id="1049107" name="Text 4"/>
          <p:cNvSpPr/>
          <p:nvPr/>
        </p:nvSpPr>
        <p:spPr>
          <a:xfrm>
            <a:off x="365760" y="3703320"/>
            <a:ext cx="11430000" cy="25603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Electronics Engineering  ·  College of Engineering and Architecture</a:t>
            </a:r>
            <a:endParaRPr dirty="0" sz="1000" lang="en-US"/>
          </a:p>
        </p:txBody>
      </p:sp>
      <p:sp>
        <p:nvSpPr>
          <p:cNvPr id="1049108" name="Text 5"/>
          <p:cNvSpPr/>
          <p:nvPr/>
        </p:nvSpPr>
        <p:spPr>
          <a:xfrm>
            <a:off x="365760" y="3977640"/>
            <a:ext cx="11430000" cy="24688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– Carig Campus  ·  April 2026</a:t>
            </a:r>
            <a:endParaRPr dirty="0" sz="1000" lang="en-US"/>
          </a:p>
        </p:txBody>
      </p:sp>
      <p:sp>
        <p:nvSpPr>
          <p:cNvPr id="1049109" name="Shape 6"/>
          <p:cNvSpPr/>
          <p:nvPr/>
        </p:nvSpPr>
        <p:spPr>
          <a:xfrm>
            <a:off x="1280160" y="4480560"/>
            <a:ext cx="292608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110" name="Text 7"/>
          <p:cNvSpPr/>
          <p:nvPr/>
        </p:nvSpPr>
        <p:spPr>
          <a:xfrm>
            <a:off x="1325880" y="4553712"/>
            <a:ext cx="283464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61,892</a:t>
            </a:r>
            <a:endParaRPr dirty="0" sz="3200" lang="en-US"/>
          </a:p>
        </p:txBody>
      </p:sp>
      <p:sp>
        <p:nvSpPr>
          <p:cNvPr id="1049111" name="Text 8"/>
          <p:cNvSpPr/>
          <p:nvPr/>
        </p:nvSpPr>
        <p:spPr>
          <a:xfrm>
            <a:off x="1325880" y="5196535"/>
            <a:ext cx="283464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Records Logged</a:t>
            </a:r>
            <a:endParaRPr dirty="0" sz="900" lang="en-US"/>
          </a:p>
        </p:txBody>
      </p:sp>
      <p:sp>
        <p:nvSpPr>
          <p:cNvPr id="1049112" name="Shape 9"/>
          <p:cNvSpPr/>
          <p:nvPr/>
        </p:nvSpPr>
        <p:spPr>
          <a:xfrm>
            <a:off x="4617720" y="4480560"/>
            <a:ext cx="2926080" cy="1234440"/>
          </a:xfrm>
          <a:prstGeom prst="rect"/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49113" name="Text 10"/>
          <p:cNvSpPr/>
          <p:nvPr/>
        </p:nvSpPr>
        <p:spPr>
          <a:xfrm>
            <a:off x="4663440" y="4553712"/>
            <a:ext cx="283464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dirty="0" sz="3200" lang="en-US"/>
          </a:p>
        </p:txBody>
      </p:sp>
      <p:sp>
        <p:nvSpPr>
          <p:cNvPr id="1049114" name="Text 11"/>
          <p:cNvSpPr/>
          <p:nvPr/>
        </p:nvSpPr>
        <p:spPr>
          <a:xfrm>
            <a:off x="4663440" y="5196535"/>
            <a:ext cx="283464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Success Rate</a:t>
            </a:r>
            <a:endParaRPr dirty="0" sz="900" lang="en-US"/>
          </a:p>
        </p:txBody>
      </p:sp>
      <p:sp>
        <p:nvSpPr>
          <p:cNvPr id="1049115" name="Shape 12"/>
          <p:cNvSpPr/>
          <p:nvPr/>
        </p:nvSpPr>
        <p:spPr>
          <a:xfrm>
            <a:off x="7955280" y="4480560"/>
            <a:ext cx="2926080" cy="1234440"/>
          </a:xfrm>
          <a:prstGeom prst="rect"/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49116" name="Text 13"/>
          <p:cNvSpPr/>
          <p:nvPr/>
        </p:nvSpPr>
        <p:spPr>
          <a:xfrm>
            <a:off x="8001000" y="4553712"/>
            <a:ext cx="2834640" cy="64190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5.57–5.94</a:t>
            </a:r>
            <a:endParaRPr dirty="0" sz="3200" lang="en-US"/>
          </a:p>
        </p:txBody>
      </p:sp>
      <p:sp>
        <p:nvSpPr>
          <p:cNvPr id="1049117" name="Text 14"/>
          <p:cNvSpPr/>
          <p:nvPr/>
        </p:nvSpPr>
        <p:spPr>
          <a:xfrm>
            <a:off x="8001000" y="5196535"/>
            <a:ext cx="2834640" cy="456743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lang="en-US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Structural Resonance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2026-04-23T08:00:12Z</dcterms:created>
  <dcterms:modified xsi:type="dcterms:W3CDTF">2026-04-24T00:03:45Z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8ff50bd08abd4573bd8ed01930c47d76</vt:lpwstr>
  </property>
</Properties>
</file>