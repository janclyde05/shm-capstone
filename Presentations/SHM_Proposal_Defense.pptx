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327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6858000" cy="6858000"/>
          </a:xfrm>
          <a:prstGeom prst="ellipse">
            <a:avLst/>
          </a:prstGeom>
          <a:solidFill>
            <a:srgbClr val="0F67B1">
              <a:alpha val="22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9692640" y="-914400"/>
            <a:ext cx="5029200" cy="5029200"/>
          </a:xfrm>
          <a:prstGeom prst="ellipse">
            <a:avLst/>
          </a:prstGeom>
          <a:solidFill>
            <a:srgbClr val="06CED6">
              <a:alpha val="18000"/>
            </a:srgbClr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685800"/>
            <a:ext cx="123444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48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CAGAYAN STATE UNIVERSITY  ·  CARIG CAMPUS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of a Localized Real-Time Frequency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System for Structural Health Monitoring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MEMS IMUs and ESP32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DEFENSE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19050">
            <a:solidFill>
              <a:srgbClr val="06CED6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6"/>
          <p:cNvSpPr/>
          <p:nvPr/>
        </p:nvSpPr>
        <p:spPr>
          <a:xfrm>
            <a:off x="82296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Clyde Talosig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Science in Electronics Engineering  ·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685800" cy="685800"/>
          </a:xfrm>
          <a:prstGeom prst="ellipse">
            <a:avLst/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Significance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685800" cy="685800"/>
          </a:xfrm>
          <a:prstGeom prst="ellipse">
            <a:avLst/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466344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66344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Literature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61188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8503920" y="2194560"/>
            <a:ext cx="685800" cy="685800"/>
          </a:xfrm>
          <a:prstGeom prst="ellipse">
            <a:avLst/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850392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50392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361188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Defense — BSECE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of the Study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CED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Bridges Under Strain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58775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 bridges absorb constant stress from traffic, typhoons, flooding, and earthquakes — day after day.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6492240" y="2240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CED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1945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Damage Hides Until It's Late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0" y="258775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Cracks and fatigue often aren't visible on inspection, but they do shift how a structure vibrates.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777240" y="4023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CED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9776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Tools Are Costly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37083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monitoring systems and accelerometers remain out of budget for most local government units.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7490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6492240" y="4023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CED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6492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39776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Low-Cost Local Alternative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32320" y="437083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builds an ESP32 + MEMS IMU device that tracks frequency shifts in real time, at a fraction of the cost.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of the Study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Defense — BSECE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— Why Buntun Bridge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will be tested on Buntun Bridge, Tuguegarao City — the 2</a:t>
            </a:r>
            <a:r>
              <a:rPr lang="en-US" sz="1400" baseline="30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longest river bridge in the Philippines next to the new Camalaniugan Bridge, and a structure with a documented, ongoing deterioration concern.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CE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56+ yrs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service since 1969 — steel truss, 1,369 m span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6060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4572000" y="2834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CE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₱101.3M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35204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DPWH retrofit &amp; strengthening in 2023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6060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8412480" y="2834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CE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15-ton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412480" y="35204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limit imposed in March 2025 over new deterioration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777240" y="4800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2023 retrofit, DPWH engineers reported fresh cracks and holes in the deck in 2025 — showing that periodic inspection alone isn't catching deterioration early enough. That is precisely the gap this study's real-time monitoring approach is meant to close.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DPWH Region II; Philippine Information Agency; GMA Regional TV (2023–2025)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— Local Context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Defense — BSECE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3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OBJECTIVE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62356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6263640" y="2194560"/>
            <a:ext cx="562356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658368" y="2532888"/>
            <a:ext cx="512064" cy="512064"/>
          </a:xfrm>
          <a:prstGeom prst="ellipse">
            <a:avLst/>
          </a:prstGeom>
          <a:solidFill>
            <a:srgbClr val="0F67B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658368" y="2532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6" dirty="0"/>
          </a:p>
        </p:txBody>
      </p:sp>
      <p:sp>
        <p:nvSpPr>
          <p:cNvPr id="11" name="Shape 9"/>
          <p:cNvSpPr/>
          <p:nvPr/>
        </p:nvSpPr>
        <p:spPr>
          <a:xfrm>
            <a:off x="6464808" y="2532888"/>
            <a:ext cx="512064" cy="512064"/>
          </a:xfrm>
          <a:prstGeom prst="ellipse">
            <a:avLst/>
          </a:prstGeom>
          <a:solidFill>
            <a:srgbClr val="06CED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6464808" y="2532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6" dirty="0"/>
          </a:p>
        </p:txBody>
      </p:sp>
      <p:sp>
        <p:nvSpPr>
          <p:cNvPr id="13" name="Text 11"/>
          <p:cNvSpPr/>
          <p:nvPr/>
        </p:nvSpPr>
        <p:spPr>
          <a:xfrm>
            <a:off x="1325880" y="21945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vibration data be captured and processed in real time?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32320" y="21945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real-time system to acquire and process bridge vibration data.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62356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6263640" y="3566160"/>
            <a:ext cx="562356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658368" y="3904488"/>
            <a:ext cx="512064" cy="512064"/>
          </a:xfrm>
          <a:prstGeom prst="ellipse">
            <a:avLst/>
          </a:prstGeom>
          <a:solidFill>
            <a:srgbClr val="0F67B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658368" y="3904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6" dirty="0"/>
          </a:p>
        </p:txBody>
      </p:sp>
      <p:sp>
        <p:nvSpPr>
          <p:cNvPr id="19" name="Shape 17"/>
          <p:cNvSpPr/>
          <p:nvPr/>
        </p:nvSpPr>
        <p:spPr>
          <a:xfrm>
            <a:off x="6464808" y="3904488"/>
            <a:ext cx="512064" cy="512064"/>
          </a:xfrm>
          <a:prstGeom prst="ellipse">
            <a:avLst/>
          </a:prstGeom>
          <a:solidFill>
            <a:srgbClr val="06CED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6464808" y="3904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6" dirty="0"/>
          </a:p>
        </p:txBody>
      </p:sp>
      <p:sp>
        <p:nvSpPr>
          <p:cNvPr id="21" name="Text 19"/>
          <p:cNvSpPr/>
          <p:nvPr/>
        </p:nvSpPr>
        <p:spPr>
          <a:xfrm>
            <a:off x="1325880" y="35661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reliably can the system extract the bridge's resonant frequency from that data?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32320" y="35661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track resonant frequency using signal processing methods.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937760"/>
            <a:ext cx="562356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4" name="Shape 22"/>
          <p:cNvSpPr/>
          <p:nvPr/>
        </p:nvSpPr>
        <p:spPr>
          <a:xfrm>
            <a:off x="6263640" y="4937760"/>
            <a:ext cx="562356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5" name="Shape 23"/>
          <p:cNvSpPr/>
          <p:nvPr/>
        </p:nvSpPr>
        <p:spPr>
          <a:xfrm>
            <a:off x="658368" y="5276088"/>
            <a:ext cx="512064" cy="512064"/>
          </a:xfrm>
          <a:prstGeom prst="ellipse">
            <a:avLst/>
          </a:prstGeom>
          <a:solidFill>
            <a:srgbClr val="0F67B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658368" y="5276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6" dirty="0"/>
          </a:p>
        </p:txBody>
      </p:sp>
      <p:sp>
        <p:nvSpPr>
          <p:cNvPr id="27" name="Shape 25"/>
          <p:cNvSpPr/>
          <p:nvPr/>
        </p:nvSpPr>
        <p:spPr>
          <a:xfrm>
            <a:off x="6464808" y="5276088"/>
            <a:ext cx="512064" cy="512064"/>
          </a:xfrm>
          <a:prstGeom prst="ellipse">
            <a:avLst/>
          </a:prstGeom>
          <a:solidFill>
            <a:srgbClr val="06CED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8" name="Text 26"/>
          <p:cNvSpPr/>
          <p:nvPr/>
        </p:nvSpPr>
        <p:spPr>
          <a:xfrm>
            <a:off x="6464808" y="5276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6" dirty="0"/>
          </a:p>
        </p:txBody>
      </p:sp>
      <p:sp>
        <p:nvSpPr>
          <p:cNvPr id="29" name="Text 27"/>
          <p:cNvSpPr/>
          <p:nvPr/>
        </p:nvSpPr>
        <p:spPr>
          <a:xfrm>
            <a:off x="1325880" y="49377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results be shown to users in a clear, real-time way?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132320" y="49377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live web-based dashboard for monitoring and visualization.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Defense — BSECE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Framework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246120" cy="548640"/>
          </a:xfrm>
          <a:prstGeom prst="roundRect">
            <a:avLst>
              <a:gd name="adj" fmla="val 16667"/>
            </a:avLst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246120" cy="274320"/>
          </a:xfrm>
          <a:prstGeom prst="rect">
            <a:avLst/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2926080"/>
            <a:ext cx="273405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structural vibrations</a:t>
            </a:r>
            <a:endParaRPr lang="en-US" sz="115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loads (traffic, wind)</a:t>
            </a:r>
            <a:endParaRPr lang="en-US" sz="115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Triaxial acceleration (X, Y, Z)</a:t>
            </a:r>
            <a:endParaRPr lang="en-US" sz="115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signals from MPU-6050</a:t>
            </a:r>
            <a:endParaRPr lang="en-US" sz="115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excitation forces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794760" y="34518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72000" y="214884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4572000" y="2148840"/>
            <a:ext cx="3246120" cy="548640"/>
          </a:xfrm>
          <a:prstGeom prst="roundRect">
            <a:avLst>
              <a:gd name="adj" fmla="val 16667"/>
            </a:avLst>
          </a:prstGeom>
          <a:solidFill>
            <a:srgbClr val="0F67B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Shape 11"/>
          <p:cNvSpPr/>
          <p:nvPr/>
        </p:nvSpPr>
        <p:spPr>
          <a:xfrm>
            <a:off x="4572000" y="2423160"/>
            <a:ext cx="3246120" cy="274320"/>
          </a:xfrm>
          <a:prstGeom prst="rect">
            <a:avLst/>
          </a:prstGeom>
          <a:solidFill>
            <a:srgbClr val="0F67B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28032" y="2926080"/>
            <a:ext cx="273405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calibration &amp; offset correction</a:t>
            </a:r>
            <a:endParaRPr lang="en-US" sz="115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 Filter (noise cleanup)</a:t>
            </a:r>
            <a:endParaRPr lang="en-US" sz="115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windowing</a:t>
            </a:r>
            <a:endParaRPr lang="en-US" sz="115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computation</a:t>
            </a:r>
            <a:endParaRPr lang="en-US" sz="115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frequency detection</a:t>
            </a:r>
            <a:endParaRPr lang="en-US" sz="115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vibration energy calculation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18120" y="34518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595360" y="214884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8595360" y="2148840"/>
            <a:ext cx="3246120" cy="548640"/>
          </a:xfrm>
          <a:prstGeom prst="roundRect">
            <a:avLst>
              <a:gd name="adj" fmla="val 16667"/>
            </a:avLst>
          </a:prstGeom>
          <a:solidFill>
            <a:srgbClr val="06CED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Shape 17"/>
          <p:cNvSpPr/>
          <p:nvPr/>
        </p:nvSpPr>
        <p:spPr>
          <a:xfrm>
            <a:off x="8595360" y="2423160"/>
            <a:ext cx="3246120" cy="274320"/>
          </a:xfrm>
          <a:prstGeom prst="rect">
            <a:avLst/>
          </a:prstGeom>
          <a:solidFill>
            <a:srgbClr val="06CED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8595360" y="21488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51392" y="2926080"/>
            <a:ext cx="273405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resonance frequency (Hz)</a:t>
            </a:r>
            <a:endParaRPr lang="en-US" sz="115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vibration intensity</a:t>
            </a:r>
            <a:endParaRPr lang="en-US" sz="115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vibration index</a:t>
            </a:r>
            <a:endParaRPr lang="en-US" sz="115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/ WARN / CRIT alerts</a:t>
            </a:r>
            <a:endParaRPr lang="en-US" sz="115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visualization</a:t>
            </a:r>
            <a:endParaRPr lang="en-US" sz="115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 log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Framework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Defense — BSECE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Significance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532120" cy="2880360"/>
          </a:xfrm>
          <a:prstGeom prst="roundRect">
            <a:avLst>
              <a:gd name="adj" fmla="val 3175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STUDY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testing planned on Buntun Bridge, Tuguegarao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real-time frequency monitoring only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mounted non-invasively — no structural alteration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access &amp; schedule subject to DPWH/LGU coordination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full bridge diagnosis or repair tool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532120" cy="2880360"/>
          </a:xfrm>
          <a:prstGeom prst="roundRect">
            <a:avLst>
              <a:gd name="adj" fmla="val 3175"/>
            </a:avLst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CE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69748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applicable to a bridge already flagged for deterioration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alternative to expensive imported systems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engineers an early-warning tool between inspections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accessible, local components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Significance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Defense — BSECE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Literature — Claims &amp; Evidence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532120" y="17373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11247120" cy="658368"/>
          </a:xfrm>
          <a:prstGeom prst="roundRect">
            <a:avLst>
              <a:gd name="adj" fmla="val 9722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685800" y="208483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monitoring detects structural damage early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32120" y="2084832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Accelerometer-based systems successfully detected cracks in bridge structures (Sales et al., 2022)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1247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685800" y="287121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shifts are a valid indicator of damage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2871216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natural frequency are an established indicator of deterioration (Zhang &amp; Li, 2023; Salawu, 1997)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11247120" cy="658368"/>
          </a:xfrm>
          <a:prstGeom prst="roundRect">
            <a:avLst>
              <a:gd name="adj" fmla="val 9722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685800" y="365760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SHM hardware can still perform reliably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3657600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SHM systems proven feasible for real infrastructure use (Komarizadehasl et al., 2022)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43984"/>
            <a:ext cx="11247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685800" y="444398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MEMS sensors suit continuous field use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4443984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handles real-time sensing reliably (El-Khozondar et al., 2024); MEMS sensors are accurate &amp; low-power (Patel &amp; Singh, 2025)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230368"/>
            <a:ext cx="11247120" cy="658368"/>
          </a:xfrm>
          <a:prstGeom prst="roundRect">
            <a:avLst>
              <a:gd name="adj" fmla="val 9722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685800" y="523036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is an accepted method for frequency extraction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5230368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FFT-based frequency analysis is a long-established SHM technique (Doebling, Farrar &amp; Prime, 1998)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Literature — Claims &amp; Evidence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Defense — BSECE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155448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to build affordable SHM systems clearly exists — but very few local, low-cost, real-time solutions have actually been built and tested for Philippine bridges.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11247120" cy="2331720"/>
          </a:xfrm>
          <a:prstGeom prst="roundRect">
            <a:avLst>
              <a:gd name="adj" fmla="val 3922"/>
            </a:avLst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STUDY'S FIT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brings together three proven, individually well-supported pieces — MEMS sensors, ESP32 processing, and FFT-based frequency analysis — into one complete, low-cost, real-time monitoring device built for local conditions.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Defense — BSECE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3108960" cy="2834640"/>
          </a:xfrm>
          <a:prstGeom prst="roundRect">
            <a:avLst>
              <a:gd name="adj" fmla="val 3226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1828800" y="2651760"/>
            <a:ext cx="822960" cy="822960"/>
          </a:xfrm>
          <a:prstGeom prst="ellipse">
            <a:avLst/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182880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34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IMU sensors mounted on the test structure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794760" y="338328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663440" y="2286000"/>
            <a:ext cx="3108960" cy="2834640"/>
          </a:xfrm>
          <a:prstGeom prst="roundRect">
            <a:avLst>
              <a:gd name="adj" fmla="val 3226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5806440" y="2651760"/>
            <a:ext cx="822960" cy="822960"/>
          </a:xfrm>
          <a:prstGeom prst="ellipse">
            <a:avLst/>
          </a:prstGeom>
          <a:solidFill>
            <a:srgbClr val="0F67B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580644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340" dirty="0"/>
          </a:p>
        </p:txBody>
      </p:sp>
      <p:sp>
        <p:nvSpPr>
          <p:cNvPr id="14" name="Text 12"/>
          <p:cNvSpPr/>
          <p:nvPr/>
        </p:nvSpPr>
        <p:spPr>
          <a:xfrm>
            <a:off x="484632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Unit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4114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filters signal &amp; extracts frequency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0" y="338328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641080" y="2286000"/>
            <a:ext cx="3108960" cy="2834640"/>
          </a:xfrm>
          <a:prstGeom prst="roundRect">
            <a:avLst>
              <a:gd name="adj" fmla="val 3226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9784080" y="2651760"/>
            <a:ext cx="822960" cy="822960"/>
          </a:xfrm>
          <a:prstGeom prst="ellipse">
            <a:avLst/>
          </a:prstGeom>
          <a:solidFill>
            <a:srgbClr val="06CED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978408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340" dirty="0"/>
          </a:p>
        </p:txBody>
      </p:sp>
      <p:sp>
        <p:nvSpPr>
          <p:cNvPr id="20" name="Text 18"/>
          <p:cNvSpPr/>
          <p:nvPr/>
        </p:nvSpPr>
        <p:spPr>
          <a:xfrm>
            <a:off x="882396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15400" y="4114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shown live on a web-based display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5532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 ESP32-S3 microcontroller and MPU-6050 motion sensors — all off-the-shelf, low-cost parts.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Defense — BSECE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Analysis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532120" cy="2743200"/>
          </a:xfrm>
          <a:prstGeom prst="roundRect">
            <a:avLst>
              <a:gd name="adj" fmla="val 3333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0A477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155448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mounted on the test structure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readings taken across repeated sessions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logged automatically for later review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5532120" cy="2743200"/>
          </a:xfrm>
          <a:prstGeom prst="roundRect">
            <a:avLst>
              <a:gd name="adj" fmla="val 3333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6537960" y="2194560"/>
            <a:ext cx="548640" cy="548640"/>
          </a:xfrm>
          <a:prstGeom prst="ellipse">
            <a:avLst/>
          </a:prstGeom>
          <a:solidFill>
            <a:srgbClr val="0F67B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6537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726948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9718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extracted from each session's readings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compared across sessions for consistency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is on repeatable, trustworthy results — not lab-grade precision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Defense — BSECE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4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6400800" cy="6400800"/>
          </a:xfrm>
          <a:prstGeom prst="ellipse">
            <a:avLst/>
          </a:prstGeom>
          <a:solidFill>
            <a:srgbClr val="0F67B1">
              <a:alpha val="22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-1371600" y="4846320"/>
            <a:ext cx="4572000" cy="4572000"/>
          </a:xfrm>
          <a:prstGeom prst="ellipse">
            <a:avLst/>
          </a:prstGeom>
          <a:solidFill>
            <a:srgbClr val="06CED6">
              <a:alpha val="18000"/>
            </a:srgbClr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66360" y="105156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0632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94960" y="4480560"/>
            <a:ext cx="1371600" cy="0"/>
          </a:xfrm>
          <a:prstGeom prst="line">
            <a:avLst/>
          </a:prstGeom>
          <a:noFill/>
          <a:ln w="19050">
            <a:solidFill>
              <a:srgbClr val="06CED6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5"/>
          <p:cNvSpPr/>
          <p:nvPr/>
        </p:nvSpPr>
        <p:spPr>
          <a:xfrm>
            <a:off x="0" y="46634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Clyde Talosig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50292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Cagayan State University – Carig Campus  ·  College of Engineering and Architecture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993</Words>
  <Application>Microsoft Office PowerPoint</Application>
  <PresentationFormat>Widescreen</PresentationFormat>
  <Paragraphs>184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Jan Clyde Talosig</cp:lastModifiedBy>
  <cp:revision>4</cp:revision>
  <dcterms:created xsi:type="dcterms:W3CDTF">2026-09-01T05:23:29Z</dcterms:created>
  <dcterms:modified xsi:type="dcterms:W3CDTF">2026-09-01T05:55:12Z</dcterms:modified>
</cp:coreProperties>
</file>