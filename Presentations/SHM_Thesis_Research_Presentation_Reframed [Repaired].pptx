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6" y="-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6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23017" y="-1170034"/>
            <a:ext cx="2989293" cy="2779378"/>
          </a:xfrm>
          <a:prstGeom prst="ellipse">
            <a:avLst/>
          </a:prstGeom>
          <a:solidFill>
            <a:srgbClr val="116D98">
              <a:alpha val="92000"/>
            </a:srgbClr>
          </a:solidFill>
          <a:ln w="12700">
            <a:solidFill>
              <a:srgbClr val="116D9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0687" y="-866692"/>
            <a:ext cx="2138504" cy="2128564"/>
          </a:xfrm>
          <a:prstGeom prst="ellipse">
            <a:avLst/>
          </a:prstGeom>
          <a:solidFill>
            <a:srgbClr val="06CED6">
              <a:alpha val="42000"/>
            </a:srgbClr>
          </a:solidFill>
          <a:ln w="12700">
            <a:solidFill>
              <a:srgbClr val="06CE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05430" y="5806837"/>
            <a:ext cx="2806810" cy="2587751"/>
          </a:xfrm>
          <a:prstGeom prst="ellipse">
            <a:avLst/>
          </a:prstGeom>
          <a:solidFill>
            <a:srgbClr val="116D98">
              <a:alpha val="93000"/>
            </a:srgbClr>
          </a:solidFill>
          <a:ln w="12700">
            <a:solidFill>
              <a:srgbClr val="116D9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87577" y="6102228"/>
            <a:ext cx="2171104" cy="1856230"/>
          </a:xfrm>
          <a:prstGeom prst="ellipse">
            <a:avLst/>
          </a:prstGeom>
          <a:solidFill>
            <a:srgbClr val="06CED6">
              <a:alpha val="42000"/>
            </a:srgbClr>
          </a:solidFill>
          <a:ln w="12700">
            <a:solidFill>
              <a:srgbClr val="06CED6">
                <a:alpha val="0"/>
              </a:srgbClr>
            </a:solidFill>
            <a:prstDash val="solid"/>
          </a:ln>
        </p:spPr>
      </p:sp>
      <p:pic>
        <p:nvPicPr>
          <p:cNvPr id="6" name="Image 0" descr="/mnt/data/ppt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38912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2618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kern="0" spc="75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CAGAYAN STATE UNIVERSITY  ·  CARIG CAMPUS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585216" y="16093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6928" y="1975103"/>
            <a:ext cx="8732520" cy="20756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of a Localized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Frequency Monitoring System</a:t>
            </a:r>
            <a:endParaRPr lang="en-US" sz="2700" dirty="0"/>
          </a:p>
          <a:p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Structural Health Monitoring </a:t>
            </a:r>
            <a:r>
              <a:rPr lang="en-US" sz="2800" b="1" dirty="0">
                <a:solidFill>
                  <a:srgbClr val="C7E4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MEMS IMUs and ESP32-S3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4360" y="4133088"/>
            <a:ext cx="2011680" cy="0"/>
          </a:xfrm>
          <a:prstGeom prst="line">
            <a:avLst/>
          </a:prstGeom>
          <a:noFill/>
          <a:ln w="25400">
            <a:solidFill>
              <a:srgbClr val="06CE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4361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Clyde T. Talosig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47183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D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Science in Electronics Engineering  ·  September 2026</a:t>
            </a:r>
            <a:endParaRPr lang="en-US" sz="940" dirty="0"/>
          </a:p>
        </p:txBody>
      </p:sp>
      <p:sp>
        <p:nvSpPr>
          <p:cNvPr id="14" name="Text 11"/>
          <p:cNvSpPr/>
          <p:nvPr/>
        </p:nvSpPr>
        <p:spPr>
          <a:xfrm>
            <a:off x="594360" y="50474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Adviser: Engr. Christopher R. Capili, MSECE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STORY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local bridge problem to a measurable research question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path through the thesis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46536" y="329184"/>
            <a:ext cx="658368" cy="658368"/>
          </a:xfrm>
          <a:prstGeom prst="arc">
            <a:avLst/>
          </a:prstGeom>
          <a:solidFill>
            <a:srgbClr val="FFFFFF">
              <a:alpha val="0"/>
            </a:srgbClr>
          </a:solidFill>
          <a:ln w="21590">
            <a:solidFill>
              <a:srgbClr val="0F67B1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27664" y="210312"/>
            <a:ext cx="896112" cy="896112"/>
          </a:xfrm>
          <a:prstGeom prst="arc">
            <a:avLst/>
          </a:prstGeom>
          <a:solidFill>
            <a:srgbClr val="FFFFFF">
              <a:alpha val="0"/>
            </a:srgbClr>
          </a:solidFill>
          <a:ln w="21590">
            <a:solidFill>
              <a:srgbClr val="06CED6">
                <a:alpha val="8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08792" y="91440"/>
            <a:ext cx="1133856" cy="1133856"/>
          </a:xfrm>
          <a:prstGeom prst="arc">
            <a:avLst/>
          </a:prstGeom>
          <a:solidFill>
            <a:srgbClr val="FFFFFF">
              <a:alpha val="0"/>
            </a:srgbClr>
          </a:solidFill>
          <a:ln w="21590">
            <a:solidFill>
              <a:srgbClr val="0F67B1">
                <a:alpha val="8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28800"/>
            <a:ext cx="2514600" cy="3611880"/>
          </a:xfrm>
          <a:prstGeom prst="roundRect">
            <a:avLst>
              <a:gd name="adj" fmla="val 2182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057400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07692"/>
            <a:ext cx="38404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26517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" y="3246120"/>
            <a:ext cx="20482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deterioration and failure can have consequences between inspection intervals.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01568" y="1828800"/>
            <a:ext cx="2514600" cy="3611880"/>
          </a:xfrm>
          <a:prstGeom prst="roundRect">
            <a:avLst>
              <a:gd name="adj" fmla="val 2182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84448" y="2057400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2107692"/>
            <a:ext cx="38404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26517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11880" y="3246120"/>
            <a:ext cx="20482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measured, and what can this study realistically establish?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0216" y="1828800"/>
            <a:ext cx="2514600" cy="3611880"/>
          </a:xfrm>
          <a:prstGeom prst="roundRect">
            <a:avLst>
              <a:gd name="adj" fmla="val 2182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3096" y="2057400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2107692"/>
            <a:ext cx="38404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0528" y="26517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0528" y="3246120"/>
            <a:ext cx="20482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SHM research supports vibration monitoring, MEMS sensing, FFT analysis, and field observation.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98864" y="1828800"/>
            <a:ext cx="2514600" cy="3611880"/>
          </a:xfrm>
          <a:prstGeom prst="roundRect">
            <a:avLst>
              <a:gd name="adj" fmla="val 218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81744" y="2057400"/>
            <a:ext cx="384048" cy="384048"/>
          </a:xfrm>
          <a:prstGeom prst="ellipse">
            <a:avLst/>
          </a:prstGeom>
          <a:solidFill>
            <a:srgbClr val="06CED6"/>
          </a:solidFill>
          <a:ln w="12700">
            <a:solidFill>
              <a:srgbClr val="06CE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81744" y="2107692"/>
            <a:ext cx="38404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09176" y="26517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409176" y="3246120"/>
            <a:ext cx="20482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7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system, observe Buntun Bridge, extract frequency, and establish an internal baseline.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 · BACKGROUND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research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begins with what happens when bridges are monitored too late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64208"/>
            <a:ext cx="960120" cy="22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bridge failures made the monitoring problem impossible to ignore.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30352" y="2724912"/>
            <a:ext cx="5440680" cy="1335024"/>
          </a:xfrm>
          <a:prstGeom prst="roundRect">
            <a:avLst>
              <a:gd name="adj" fmla="val 411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2724912"/>
            <a:ext cx="5440680" cy="1335024"/>
          </a:xfrm>
          <a:prstGeom prst="roundRect">
            <a:avLst>
              <a:gd name="adj" fmla="val 411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53512"/>
            <a:ext cx="2834640" cy="243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CABAGAN–STA. MARIA BRIDGE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27355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in February 2025 after an overloaded dump truck crossed the bridge; six people were injured and a major river crossing was severed.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953512"/>
            <a:ext cx="1828800" cy="243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PIGGATAN BRIDGE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327355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in October 2025 as overloaded trucks crossed during harvest season; seven people were injured and travel between communities was disrupted.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" y="4407408"/>
            <a:ext cx="11109960" cy="1024128"/>
          </a:xfrm>
          <a:prstGeom prst="roundRect">
            <a:avLst>
              <a:gd name="adj" fmla="val 5357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6360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38528" y="4572000"/>
            <a:ext cx="9098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inspection provides snapshots. The research asks whether a low-cost, continuous or repeated vibration measurement can add quantitative information between those snapshots.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of the Study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 · LOCAL CONTEXT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Buntun Bridge?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critical, aging, operating bridge makes the study relevant and field-based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73352"/>
            <a:ext cx="5806440" cy="4389120"/>
          </a:xfrm>
          <a:prstGeom prst="roundRect">
            <a:avLst>
              <a:gd name="adj" fmla="val 125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pic>
        <p:nvPicPr>
          <p:cNvPr id="8" name="Image 0" descr="/mnt/data/final_unzip/ppt/media/image-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38528"/>
            <a:ext cx="5303520" cy="2816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4983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BUNTUN BRIDGE · TUGUEGARAO CITY, CAGAYAN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5330952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operating bridge selected for field testing under naturally occurring traffic excitation.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56832" y="187452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21579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766560" y="25786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service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357616" y="187452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67344" y="21579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1,369 m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467344" y="25786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length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0058400" y="1874520"/>
            <a:ext cx="1481328" cy="1234440"/>
          </a:xfrm>
          <a:prstGeom prst="roundRect">
            <a:avLst>
              <a:gd name="adj" fmla="val 4444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68128" y="21579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tons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168128" y="25786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load restriction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656832" y="3401568"/>
            <a:ext cx="4983480" cy="1874520"/>
          </a:xfrm>
          <a:prstGeom prst="roundRect">
            <a:avLst>
              <a:gd name="adj" fmla="val 2927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31152" y="367588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FITS THE STUDY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31152" y="4078224"/>
            <a:ext cx="42976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vehicular activity provides real service excitation.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has documented deterioration and operational restrictions.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can observe actual vibration without imposing abnormal loads.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 · THE PROBLEM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missing?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problem is not simply “build a sensor.” It is “build a useful reference from a bridge with no prior instrumented baseline.”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19072"/>
            <a:ext cx="5394960" cy="4315968"/>
          </a:xfrm>
          <a:prstGeom prst="roundRect">
            <a:avLst>
              <a:gd name="adj" fmla="val 127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719072"/>
            <a:ext cx="5468112" cy="4315968"/>
          </a:xfrm>
          <a:prstGeom prst="roundRect">
            <a:avLst>
              <a:gd name="adj" fmla="val 1271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993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CONDITION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2395728"/>
            <a:ext cx="45720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is largely periodic and inspection-based.</a:t>
            </a:r>
            <a:endParaRPr lang="en-US" dirty="0"/>
          </a:p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Buntun Bridge has no prior instrumented frequency baseline available to this study.</a:t>
            </a:r>
            <a:endParaRPr lang="en-US" dirty="0"/>
          </a:p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frequency-monitoring systems can be costly and difficult to deploy widely.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46520" y="19933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RESPONSE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a localized, low-cost, real-time frequency-monitoring system and use it to establish an internal baseline of Buntun Bridge dominant vibration frequencies under normal traffic conditions.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46520" y="4251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explicitly avoids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4590288"/>
            <a:ext cx="44348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structural damage diagnosis</a:t>
            </a:r>
            <a:endParaRPr lang="en-US" sz="1400" dirty="0"/>
          </a:p>
          <a:p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load-capacity assessment</a:t>
            </a:r>
            <a:endParaRPr lang="en-US" sz="1400" dirty="0"/>
          </a:p>
          <a:p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safety threshold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the Problem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 · SOP + OBJECTIVES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 of the Problem &amp; 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is paired directly with what the study intends to accomplish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276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THE PROBLEM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72784" y="16276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965960"/>
            <a:ext cx="5468112" cy="1005840"/>
          </a:xfrm>
          <a:prstGeom prst="roundRect">
            <a:avLst>
              <a:gd name="adj" fmla="val 5455"/>
            </a:avLst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221992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72284"/>
            <a:ext cx="384048" cy="26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2130552"/>
            <a:ext cx="4325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real-time frequency monitoring system be developed to acquire and process structural vibration data?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82512" y="2221992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272284"/>
            <a:ext cx="384048" cy="264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1152" y="2130552"/>
            <a:ext cx="4352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real-time monitoring system capable of acquiring and processing structural vibration data from Buntun Bridge.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91256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191256"/>
            <a:ext cx="5468112" cy="1005840"/>
          </a:xfrm>
          <a:prstGeom prst="roundRect">
            <a:avLst>
              <a:gd name="adj" fmla="val 5455"/>
            </a:avLst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447288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497580"/>
            <a:ext cx="384048" cy="271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61872" y="3355848"/>
            <a:ext cx="4325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effectively can dominant structural frequencies be extracted from vibration signals under varying excitation and noise conditions?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82512" y="3447288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497580"/>
            <a:ext cx="384048" cy="271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31152" y="3355848"/>
            <a:ext cx="4352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establish a baseline range of dominant structural frequencies from acquired vibration signals under varying traffic conditions.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416552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4416552"/>
            <a:ext cx="5468112" cy="1005840"/>
          </a:xfrm>
          <a:prstGeom prst="roundRect">
            <a:avLst>
              <a:gd name="adj" fmla="val 5455"/>
            </a:avLst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672584"/>
            <a:ext cx="384048" cy="384048"/>
          </a:xfrm>
          <a:prstGeom prst="ellipse">
            <a:avLst/>
          </a:prstGeom>
          <a:solidFill>
            <a:srgbClr val="06CED6"/>
          </a:solidFill>
          <a:ln w="12700">
            <a:solidFill>
              <a:srgbClr val="06CE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722875"/>
            <a:ext cx="384048" cy="270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61872" y="4581144"/>
            <a:ext cx="4325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system provide real-time monitoring and visualization of structural vibration characteristics?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82512" y="4672584"/>
            <a:ext cx="384048" cy="384048"/>
          </a:xfrm>
          <a:prstGeom prst="ellipse">
            <a:avLst/>
          </a:prstGeom>
          <a:solidFill>
            <a:srgbClr val="06CED6"/>
          </a:solidFill>
          <a:ln w="12700">
            <a:solidFill>
              <a:srgbClr val="06CE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4722876"/>
            <a:ext cx="384048" cy="270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31152" y="4581144"/>
            <a:ext cx="43525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real-time visualization interface for displaying structural vibration characteristics and frequency behavior.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the Problem &amp; Objectives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 · FRAMEWORK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frequency can tell us something about a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basis is simple: structural dynamic behavior depends on mass, stiffness, and boundary conditions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55648"/>
            <a:ext cx="6675120" cy="4224528"/>
          </a:xfrm>
          <a:prstGeom prst="roundRect">
            <a:avLst>
              <a:gd name="adj" fmla="val 1299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57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IDEA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 in structural condition can change dynamic characteristics.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3703320"/>
            <a:ext cx="1417320" cy="0"/>
          </a:xfrm>
          <a:prstGeom prst="line">
            <a:avLst/>
          </a:prstGeom>
          <a:noFill/>
          <a:ln w="38100">
            <a:solidFill>
              <a:srgbClr val="0A47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3090672"/>
            <a:ext cx="868680" cy="530352"/>
          </a:xfrm>
          <a:prstGeom prst="rect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3698748"/>
            <a:ext cx="594360" cy="868680"/>
          </a:xfrm>
          <a:prstGeom prst="line">
            <a:avLst/>
          </a:prstGeom>
          <a:noFill/>
          <a:ln w="25400">
            <a:solidFill>
              <a:srgbClr val="0A47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53512" y="4567428"/>
            <a:ext cx="594360" cy="0"/>
          </a:xfrm>
          <a:prstGeom prst="line">
            <a:avLst/>
          </a:prstGeom>
          <a:noFill/>
          <a:ln w="25400">
            <a:solidFill>
              <a:srgbClr val="0A47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9584" y="4009644"/>
            <a:ext cx="640080" cy="640080"/>
          </a:xfrm>
          <a:prstGeom prst="ellipse">
            <a:avLst/>
          </a:prstGeom>
          <a:solidFill>
            <a:srgbClr val="06CED6">
              <a:alpha val="92000"/>
            </a:srgbClr>
          </a:solidFill>
          <a:ln w="12700">
            <a:solidFill>
              <a:srgbClr val="06CE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672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+ stiffness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81528" y="46474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7B1"/>
                </a:solidFill>
              </a:rPr>
              <a:t>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65576" y="469315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response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5010912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Frequency-based SHM uses measured vibration behavior as an indirect indicator of structural change. But frequency shift alone does not identify a unique defect.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52360" y="1755648"/>
            <a:ext cx="4187952" cy="4224528"/>
          </a:xfrm>
          <a:prstGeom prst="roundRect">
            <a:avLst>
              <a:gd name="adj" fmla="val 1310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54112" y="20574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THIS STUDY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54112" y="2542032"/>
            <a:ext cx="3364992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bridge response while it is in service.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how dominant frequency behaves under different traffic conditions.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repeated observations to establish the bridge’s own empirical reference.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54112" y="4736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9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boundary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54112" y="5074920"/>
            <a:ext cx="3337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frequency change is a reason to look closer — not a diagnosis by itself.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/ Theoretical Basis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 · IPO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Framework — Input → Process → Output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connects the real bridge response to the final monitoring information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28800"/>
            <a:ext cx="3246120" cy="3730752"/>
          </a:xfrm>
          <a:prstGeom prst="roundRect">
            <a:avLst>
              <a:gd name="adj" fmla="val 169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828800"/>
            <a:ext cx="3246120" cy="530352"/>
          </a:xfrm>
          <a:prstGeom prst="roundRect">
            <a:avLst>
              <a:gd name="adj" fmla="val 6897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7510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633472"/>
            <a:ext cx="2761488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Traffic-induced excitation</a:t>
            </a:r>
            <a:endParaRPr lang="en-US" sz="1600" dirty="0"/>
          </a:p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vibration</a:t>
            </a:r>
            <a:endParaRPr lang="en-US" sz="1600" dirty="0"/>
          </a:p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Triaxial acceleration</a:t>
            </a:r>
            <a:endParaRPr lang="en-US" sz="1600" dirty="0"/>
          </a:p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MEMS IMU signals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06240" y="1828800"/>
            <a:ext cx="3246120" cy="3730752"/>
          </a:xfrm>
          <a:prstGeom prst="roundRect">
            <a:avLst>
              <a:gd name="adj" fmla="val 169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828800"/>
            <a:ext cx="3246120" cy="530352"/>
          </a:xfrm>
          <a:prstGeom prst="roundRect">
            <a:avLst>
              <a:gd name="adj" fmla="val 6897"/>
            </a:avLst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97510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633472"/>
            <a:ext cx="2761488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+ check signal</a:t>
            </a:r>
            <a:endParaRPr lang="en-US" sz="1600" dirty="0"/>
          </a:p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bias / detrend</a:t>
            </a:r>
            <a:endParaRPr lang="en-US" sz="1600" dirty="0"/>
          </a:p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transformation</a:t>
            </a:r>
            <a:endParaRPr lang="en-US" sz="1600" dirty="0"/>
          </a:p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Peak-frequency extraction</a:t>
            </a:r>
            <a:endParaRPr lang="en-US" sz="1600" dirty="0"/>
          </a:p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baseline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18120" y="1828800"/>
            <a:ext cx="3246120" cy="3730752"/>
          </a:xfrm>
          <a:prstGeom prst="roundRect">
            <a:avLst>
              <a:gd name="adj" fmla="val 169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1828800"/>
            <a:ext cx="3246120" cy="530352"/>
          </a:xfrm>
          <a:prstGeom prst="roundRect">
            <a:avLst>
              <a:gd name="adj" fmla="val 6897"/>
            </a:avLst>
          </a:prstGeom>
          <a:solidFill>
            <a:srgbClr val="06CED6"/>
          </a:solidFill>
          <a:ln w="12700">
            <a:solidFill>
              <a:srgbClr val="06CE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97510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2633472"/>
            <a:ext cx="2761488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frequency</a:t>
            </a:r>
            <a:endParaRPr lang="en-US" sz="1600" dirty="0"/>
          </a:p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range</a:t>
            </a:r>
            <a:endParaRPr lang="en-US" sz="1600" dirty="0"/>
          </a:p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Traffic-aware interpretation</a:t>
            </a:r>
            <a:endParaRPr lang="en-US" sz="1600" dirty="0"/>
          </a:p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visualization</a:t>
            </a:r>
            <a:endParaRPr lang="en-US" sz="1600" dirty="0"/>
          </a:p>
          <a:p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record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3246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67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452360" y="3246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CE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097280" y="574243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itself is the real-world input; the study contributes the acquisition, processing, baseline and visualization pipeline.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Framework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 · RRL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Research — What the literature already validates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is built on established ideas, not on an isolated hardware claim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0" y="1572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HERE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32520" y="15727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SOURCES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810512"/>
            <a:ext cx="2670048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810512"/>
            <a:ext cx="507492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1810512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9385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Vibration-based SHM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11296" y="190195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and frequency changes are established features for structural characterization.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59952" y="190195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 al. (2016); Avci et al. (2021); Azhar et al. (2024)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633472"/>
            <a:ext cx="2670048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0128" y="2633472"/>
            <a:ext cx="5074920" cy="621792"/>
          </a:xfrm>
          <a:prstGeom prst="roundRect">
            <a:avLst>
              <a:gd name="adj" fmla="val 8824"/>
            </a:avLst>
          </a:prstGeom>
          <a:solidFill>
            <a:srgbClr val="F9FBFC"/>
          </a:solidFill>
          <a:ln w="12700">
            <a:solidFill>
              <a:srgbClr val="F9FB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2633472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7614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Modal Analysis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11296" y="272491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vibration can be observed under ambient / operating loads without controlled excitation.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59952" y="272491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(2017); Hasani &amp; Freddi (2023)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456432"/>
            <a:ext cx="2670048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0128" y="3456432"/>
            <a:ext cx="507492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9640" y="3456432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5844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 MEMS sensing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11296" y="354787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accelerometers can support bridge vibration and eigenfrequency estimation when installation and measurement limitations are controlled.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59952" y="35478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Komarizadehasl et al. (2022a,b); Giermann et al. (2025)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279392"/>
            <a:ext cx="2670048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0128" y="4279392"/>
            <a:ext cx="5074920" cy="621792"/>
          </a:xfrm>
          <a:prstGeom prst="roundRect">
            <a:avLst>
              <a:gd name="adj" fmla="val 8824"/>
            </a:avLst>
          </a:prstGeom>
          <a:solidFill>
            <a:srgbClr val="F9FBFC"/>
          </a:solidFill>
          <a:ln w="12700">
            <a:solidFill>
              <a:srgbClr val="F9FB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49640" y="4279392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4074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 / frequency analysis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11296" y="437083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is widely used to convert sampled vibration signals into frequency-domain information for spectral interpretation.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759952" y="437083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Hasani &amp; Freddi (2023); Chen et al. (2017)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5102352"/>
            <a:ext cx="2670048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10128" y="5102352"/>
            <a:ext cx="507492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49640" y="5102352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2303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variability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511296" y="5193792"/>
            <a:ext cx="4626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environmental conditions can change measured modal frequencies and therefore matter when building a baseline.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759952" y="519379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Sohn (2007); Zhou &amp; Sun (2019); Wang et al. (2022)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Related Literature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 · RRL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Philippine Research &amp; the Local Gap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studies show feasibility; they also show why field characterization matters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19072"/>
            <a:ext cx="5504688" cy="4407408"/>
          </a:xfrm>
          <a:prstGeom prst="roundRect">
            <a:avLst>
              <a:gd name="adj" fmla="val 1245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5352" y="1719072"/>
            <a:ext cx="5394960" cy="4407408"/>
          </a:xfrm>
          <a:prstGeom prst="roundRect">
            <a:avLst>
              <a:gd name="adj" fmla="val 1245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9933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 EXAMPLES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" y="2414016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64307"/>
            <a:ext cx="384048" cy="201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3957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Gaviña et al. (2017)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SmartBridge sensor nodes demonstrated acceleration sensing, wireless communication and online monitoring on existing Philippine bridges.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" y="3163824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214116"/>
            <a:ext cx="38404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314553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Payawal et al. (2017)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accelerometer readings were compared with theoretical outputs, highlighting the need for calibration / field characterization.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" y="3913632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9639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38953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 et al. (2018)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38770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measurements were incorporated into a fuzzy-based structural health rating for Zamora Bridge.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5528" y="4663440"/>
            <a:ext cx="384048" cy="384048"/>
          </a:xfrm>
          <a:prstGeom prst="ellipse">
            <a:avLst/>
          </a:prstGeom>
          <a:solidFill>
            <a:srgbClr val="06CED6"/>
          </a:solidFill>
          <a:ln w="12700">
            <a:solidFill>
              <a:srgbClr val="06CE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7137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46451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PCIEERD — USHER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4626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Philippine institutional project combines accelerographic sensing, web access and natural-frequency recording for structural monitoring.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19933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GAP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23957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literature reviewed does not provide a directly equivalent field methodology that combines: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37960" y="3163824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MEMS sensing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FFT-based dominant-frequency extraction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traffic-condition sessions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empirical baseline for Buntun Bridge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50749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A9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FIT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7960" y="5367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applied field implementation that connects established SHM concepts to a specific Philippine bridge.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/ Local Literature &amp; Synthesis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III · METHODS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study answers the questions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repeated-measures field approach turns the research questions into observable steps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2084832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1351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52728" y="1984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&amp; authorize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52728" y="2313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permission, safety, hardware and software checks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3410712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4610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52728" y="33101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on Buntun Bridge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52728" y="36393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sensor location, orientation and acquisition settings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48056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" y="4736592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7868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52728" y="46360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by traffic condition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52728" y="49651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and off-peak sessions; record actual traffic observations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44768" y="182880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45936" y="2084832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21351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94576" y="1984248"/>
            <a:ext cx="2519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every session the same way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94576" y="23134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→ FFT → fixed peak-picking rule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44768" y="315468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5936" y="3410712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34610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94576" y="33101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baseline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94576" y="36393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valid session frequencies and describe their spread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44768" y="448056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45936" y="4736592"/>
            <a:ext cx="384048" cy="384048"/>
          </a:xfrm>
          <a:prstGeom prst="ellipse">
            <a:avLst/>
          </a:prstGeom>
          <a:solidFill>
            <a:srgbClr val="06CED6"/>
          </a:solidFill>
          <a:ln w="12700">
            <a:solidFill>
              <a:srgbClr val="06CE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47868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94576" y="46360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&amp; interpret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94576" y="49651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7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+ traffic-condition statistics; conservative interpretation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Overview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III · FIELD WORK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Gathering — what happens during one session?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observation is one valid measurement session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74520"/>
            <a:ext cx="2011680" cy="315468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12264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62556"/>
            <a:ext cx="38404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7614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5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PRE-FIELD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182112"/>
            <a:ext cx="1627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Charge, verify firmware, IMU communication, sampling / FFT settings, clock and field log.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70632" y="1874520"/>
            <a:ext cx="2011680" cy="315468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53512" y="2112264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3512" y="2162556"/>
            <a:ext cx="38404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53512" y="27614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5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SITE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53512" y="3182112"/>
            <a:ext cx="1627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safe area, install IMU, record location/orientation, perform stationary check.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38344" y="1874520"/>
            <a:ext cx="2011680" cy="315468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21224" y="2112264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1224" y="2162556"/>
            <a:ext cx="38404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21224" y="27614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5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21224" y="3182112"/>
            <a:ext cx="1627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peak or off-peak window; record actual traffic observations and unusual events.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06056" y="1874520"/>
            <a:ext cx="2011680" cy="3154680"/>
          </a:xfrm>
          <a:prstGeom prst="roundRect">
            <a:avLst>
              <a:gd name="adj" fmla="val 272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88936" y="2112264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88936" y="2162556"/>
            <a:ext cx="38404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88936" y="27614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5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88936" y="3182112"/>
            <a:ext cx="1627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vibration record for the predetermined duration without changing setup.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73768" y="1874520"/>
            <a:ext cx="2011680" cy="3154680"/>
          </a:xfrm>
          <a:prstGeom prst="roundRect">
            <a:avLst>
              <a:gd name="adj" fmla="val 2727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56648" y="2112264"/>
            <a:ext cx="384048" cy="384048"/>
          </a:xfrm>
          <a:prstGeom prst="ellipse">
            <a:avLst/>
          </a:prstGeom>
          <a:solidFill>
            <a:srgbClr val="06CED6"/>
          </a:solidFill>
          <a:ln w="12700">
            <a:solidFill>
              <a:srgbClr val="06CE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56648" y="2162556"/>
            <a:ext cx="38404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56648" y="276148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5" dirty="0">
                <a:solidFill>
                  <a:srgbClr val="A9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REPEAT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756648" y="3182112"/>
            <a:ext cx="1627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record, check technical validity, then repeat across planned sessions.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528523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50468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target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874520" y="5431536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5 valid sessions per primary traffic condition; weekday/weekend balance when feasible. The target is a methodological goal, not a universal statistical requirement.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Gathering Procedure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III · DATA ANALYSIS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vibration signal to dominant frequency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mathematics is used to make the measurement consistent and repeatable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6537960" cy="4297680"/>
          </a:xfrm>
          <a:prstGeom prst="roundRect">
            <a:avLst>
              <a:gd name="adj" fmla="val 1277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1737360"/>
            <a:ext cx="4370832" cy="4297680"/>
          </a:xfrm>
          <a:prstGeom prst="roundRect">
            <a:avLst>
              <a:gd name="adj" fmla="val 1277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  <p:txBody>
          <a:bodyPr/>
          <a:lstStyle/>
          <a:p>
            <a:endParaRPr lang="en-PH" dirty="0"/>
          </a:p>
        </p:txBody>
      </p:sp>
      <p:sp>
        <p:nvSpPr>
          <p:cNvPr id="9" name="Shape 7"/>
          <p:cNvSpPr/>
          <p:nvPr/>
        </p:nvSpPr>
        <p:spPr>
          <a:xfrm>
            <a:off x="713232" y="2148840"/>
            <a:ext cx="914400" cy="576072"/>
          </a:xfrm>
          <a:prstGeom prst="roundRect">
            <a:avLst>
              <a:gd name="adj" fmla="val 6349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31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45920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CE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" y="2871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x[n]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10512" y="2148840"/>
            <a:ext cx="914400" cy="576072"/>
          </a:xfrm>
          <a:prstGeom prst="roundRect">
            <a:avLst>
              <a:gd name="adj" fmla="val 6349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0512" y="2331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CE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64792" y="2871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mean / detrend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07792" y="2148840"/>
            <a:ext cx="914400" cy="576072"/>
          </a:xfrm>
          <a:prstGeom prst="roundRect">
            <a:avLst>
              <a:gd name="adj" fmla="val 6349"/>
            </a:avLst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2331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0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CE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62072" y="2871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X[k]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0" y="2148840"/>
            <a:ext cx="914400" cy="576072"/>
          </a:xfrm>
          <a:prstGeom prst="roundRect">
            <a:avLst>
              <a:gd name="adj" fmla="val 6349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2331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56048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CE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77640" y="2871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Hz + out-of-band removed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138928" y="2148840"/>
            <a:ext cx="914400" cy="576072"/>
          </a:xfrm>
          <a:prstGeom prst="roundRect">
            <a:avLst>
              <a:gd name="adj" fmla="val 6349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8928" y="2331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93208" y="2871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valid peak = fᵈ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562088" y="205740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Frequency-bin spacing</a:t>
            </a:r>
            <a:endParaRPr 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27"/>
              <p:cNvSpPr/>
              <p:nvPr/>
            </p:nvSpPr>
            <p:spPr>
              <a:xfrm>
                <a:off x="7571232" y="2450592"/>
                <a:ext cx="2651760" cy="5486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Para xmlns:m="http://schemas.openxmlformats.org/officeDocument/2006/math">
                    <m:oMath>
                      <m:r>
                        <a:rPr lang="en-PH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m:t>∆</m:t>
                      </m:r>
                      <m:r>
                        <a:rPr lang="en-PH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m:t>𝒇</m:t>
                      </m:r>
                      <m:r>
                        <a:rPr lang="en-PH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m:t>=</m:t>
                      </m:r>
                      <m:f>
                        <m:fPr>
                          <m:ctrlPr>
                            <a:rPr lang="en-PH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+mj-lt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PH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en-PH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+mj-lt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PH" b="1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+mj-lt"/>
                                </a:rPr>
                                <m:t>𝒔</m:t>
                              </m:r>
                            </m:sub>
                          </m:sSub>
                        </m:num>
                        <m:den>
                          <m:r>
                            <a:rPr lang="en-PH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+mj-lt"/>
                            </a:rPr>
                            <m:t>𝑵</m:t>
                          </m:r>
                        </m:den>
                      </m:f>
                    </m:oMath>
                  </m:oMathPara>
                </a14:m>
                <a:endParaRPr lang="en-US" sz="2500" b="1" dirty="0">
                  <a:latin typeface="+mj-lt"/>
                </a:endParaRPr>
              </a:p>
            </p:txBody>
          </p:sp>
        </mc:Choice>
        <mc:Fallback>
          <p:sp>
            <p:nvSpPr>
              <p:cNvPr id="29" name="Text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232" y="2450592"/>
                <a:ext cx="2651760" cy="5486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28"/>
          <p:cNvSpPr/>
          <p:nvPr/>
        </p:nvSpPr>
        <p:spPr>
          <a:xfrm>
            <a:off x="7571232" y="3072384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fₛ is the sampling frequency and N is the FFT record length.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62088" y="379476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at bin k</a:t>
            </a:r>
            <a:endParaRPr 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30"/>
              <p:cNvSpPr/>
              <p:nvPr/>
            </p:nvSpPr>
            <p:spPr>
              <a:xfrm>
                <a:off x="7571232" y="4160520"/>
                <a:ext cx="288036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PH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+mj-lt"/>
                            </a:rPr>
                          </m:ctrlPr>
                        </m:sSubPr>
                        <m:e>
                          <m:r>
                            <a:rPr lang="en-PH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+mj-lt"/>
                            </a:rPr>
                            <m:t>𝒇</m:t>
                          </m:r>
                        </m:e>
                        <m:sub>
                          <m:r>
                            <a:rPr lang="en-PH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+mj-lt"/>
                            </a:rPr>
                            <m:t>𝒌</m:t>
                          </m:r>
                        </m:sub>
                      </m:sSub>
                      <m:r>
                        <a:rPr lang="en-PH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m:t>=</m:t>
                      </m:r>
                      <m:r>
                        <a:rPr lang="en-PH" b="1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j-lt"/>
                        </a:rPr>
                        <m:t>𝒌</m:t>
                      </m:r>
                      <m:d>
                        <m:dPr>
                          <m:ctrlPr>
                            <a:rPr lang="en-PH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+mj-lt"/>
                            </a:rPr>
                          </m:ctrlPr>
                        </m:dPr>
                        <m:e>
                          <m:r>
                            <a:rPr lang="en-PH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+mj-lt"/>
                            </a:rPr>
                            <m:t> </m:t>
                          </m:r>
                          <m:f>
                            <m:fPr>
                              <m:ctrlPr>
                                <a:rPr lang="en-PH" b="1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+mj-lt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PH" b="1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en-PH" b="1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j-lt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PH" b="1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+mj-lt"/>
                                    </a:rPr>
                                    <m:t>𝒔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PH" b="1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+mj-lt"/>
                                </a:rPr>
                                <m:t>𝑵</m:t>
                              </m:r>
                            </m:den>
                          </m:f>
                          <m:r>
                            <a:rPr lang="en-PH" b="1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+mj-lt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200" b="1" dirty="0">
                  <a:latin typeface="+mj-lt"/>
                </a:endParaRPr>
              </a:p>
            </p:txBody>
          </p:sp>
        </mc:Choice>
        <mc:Fallback>
          <p:sp>
            <p:nvSpPr>
              <p:cNvPr id="32" name="Text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232" y="4160520"/>
                <a:ext cx="2880360" cy="502920"/>
              </a:xfrm>
              <a:prstGeom prst="rect">
                <a:avLst/>
              </a:prstGeom>
              <a:blipFill>
                <a:blip r:embed="rId4"/>
                <a:stretch>
                  <a:fillRect t="-7317" b="-12195"/>
                </a:stretch>
              </a:blipFill>
              <a:ln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31"/>
          <p:cNvSpPr/>
          <p:nvPr/>
        </p:nvSpPr>
        <p:spPr>
          <a:xfrm>
            <a:off x="7571232" y="486460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frequency fᵈ is the frequency corresponding to the largest valid spectral peak within the predefined analysis band.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&amp; Frequency Extraction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III · BASELINE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repeated readings become an empirical baseline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belongs to this bridge, this setup, and this monitoring period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37360"/>
            <a:ext cx="5989320" cy="4315968"/>
          </a:xfrm>
          <a:prstGeom prst="roundRect">
            <a:avLst>
              <a:gd name="adj" fmla="val 1271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48272" y="1737360"/>
            <a:ext cx="4892040" cy="4315968"/>
          </a:xfrm>
          <a:prstGeom prst="roundRect">
            <a:avLst>
              <a:gd name="adj" fmla="val 127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0574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5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FREQUENCIES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f₁   f₂   f₃   …   fₙ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32735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822960" y="3575304"/>
                <a:ext cx="23317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̄"/>
                          <m:ctrlPr>
                            <a:rPr lang="en-PH" b="1" i="1">
                              <a:solidFill>
                                <a:schemeClr val="bg1"/>
                              </a:solidFill>
                              <a:latin typeface="+mj-lt"/>
                            </a:rPr>
                          </m:ctrlPr>
                        </m:accPr>
                        <m:e>
                          <m:r>
                            <a:rPr lang="en-PH" b="1" i="1">
                              <a:solidFill>
                                <a:schemeClr val="bg1"/>
                              </a:solidFill>
                              <a:latin typeface="+mj-lt"/>
                            </a:rPr>
                            <m:t>𝒙</m:t>
                          </m:r>
                        </m:e>
                      </m:acc>
                      <m:r>
                        <a:rPr lang="en-PH" b="1" i="1">
                          <a:solidFill>
                            <a:schemeClr val="bg1"/>
                          </a:solidFill>
                          <a:latin typeface="+mj-lt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PH" b="1" i="1">
                              <a:solidFill>
                                <a:schemeClr val="bg1"/>
                              </a:solidFill>
                              <a:latin typeface="+mj-lt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PH" b="1" i="1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PH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en-PH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PH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</a:rPr>
                                    <m:t>𝒊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PH" b="1" i="1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  <m:t>𝒏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000" b="1" dirty="0">
                  <a:latin typeface="+mj-lt"/>
                </a:endParaRPr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575304"/>
                <a:ext cx="2331720" cy="384048"/>
              </a:xfrm>
              <a:prstGeom prst="rect">
                <a:avLst/>
              </a:prstGeom>
              <a:blipFill>
                <a:blip r:embed="rId3"/>
                <a:stretch>
                  <a:fillRect t="-30159"/>
                </a:stretch>
              </a:blipFill>
              <a:ln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822960" y="4224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INTERVAL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 − s   ≤   baseline   ≤   x̄ + s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822960" y="5285232"/>
                <a:ext cx="329184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PH" b="1" i="1" smtClean="0">
                          <a:solidFill>
                            <a:schemeClr val="bg1"/>
                          </a:solidFill>
                          <a:latin typeface="+mj-lt"/>
                        </a:rPr>
                        <m:t>𝑪𝑽</m:t>
                      </m:r>
                      <m:r>
                        <a:rPr lang="en-PH" b="1" i="1" smtClean="0">
                          <a:solidFill>
                            <a:schemeClr val="bg1"/>
                          </a:solidFill>
                          <a:latin typeface="+mj-lt"/>
                        </a:rPr>
                        <m:t>=</m:t>
                      </m:r>
                      <m:d>
                        <m:dPr>
                          <m:ctrlPr>
                            <a:rPr lang="en-PH" b="1" i="1">
                              <a:solidFill>
                                <a:schemeClr val="bg1"/>
                              </a:solidFill>
                              <a:latin typeface="+mj-lt"/>
                            </a:rPr>
                          </m:ctrlPr>
                        </m:dPr>
                        <m:e>
                          <m:r>
                            <a:rPr lang="en-PH" b="1" i="1">
                              <a:solidFill>
                                <a:schemeClr val="bg1"/>
                              </a:solidFill>
                              <a:latin typeface="+mj-lt"/>
                            </a:rPr>
                            <m:t> </m:t>
                          </m:r>
                          <m:f>
                            <m:fPr>
                              <m:ctrlPr>
                                <a:rPr lang="en-PH" b="1" i="1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</m:ctrlPr>
                            </m:fPr>
                            <m:num>
                              <m:r>
                                <a:rPr lang="en-PH" b="1" i="1">
                                  <a:solidFill>
                                    <a:schemeClr val="bg1"/>
                                  </a:solidFill>
                                  <a:latin typeface="+mj-lt"/>
                                </a:rPr>
                                <m:t>𝒔</m:t>
                              </m:r>
                            </m:num>
                            <m:den>
                              <m:acc>
                                <m:accPr>
                                  <m:chr m:val="̄"/>
                                  <m:ctrlPr>
                                    <a:rPr lang="en-PH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</a:rPr>
                                  </m:ctrlPr>
                                </m:accPr>
                                <m:e>
                                  <m:r>
                                    <a:rPr lang="en-PH" b="1" i="1">
                                      <a:solidFill>
                                        <a:schemeClr val="bg1"/>
                                      </a:solidFill>
                                      <a:latin typeface="+mj-lt"/>
                                    </a:rPr>
                                    <m:t>𝒙</m:t>
                                  </m:r>
                                </m:e>
                              </m:acc>
                            </m:den>
                          </m:f>
                          <m:r>
                            <a:rPr lang="en-PH" b="1" i="1">
                              <a:solidFill>
                                <a:schemeClr val="bg1"/>
                              </a:solidFill>
                              <a:latin typeface="+mj-lt"/>
                            </a:rPr>
                            <m:t> </m:t>
                          </m:r>
                        </m:e>
                      </m:d>
                      <m:r>
                        <a:rPr lang="en-PH" b="1" i="1">
                          <a:solidFill>
                            <a:schemeClr val="bg1"/>
                          </a:solidFill>
                          <a:latin typeface="+mj-lt"/>
                        </a:rPr>
                        <m:t>×</m:t>
                      </m:r>
                      <m:r>
                        <a:rPr lang="en-PH" b="1" i="1">
                          <a:solidFill>
                            <a:schemeClr val="bg1"/>
                          </a:solidFill>
                          <a:latin typeface="+mj-lt"/>
                        </a:rPr>
                        <m:t>𝟏𝟎𝟎</m:t>
                      </m:r>
                      <m:r>
                        <a:rPr lang="en-PH" b="1" i="1">
                          <a:solidFill>
                            <a:schemeClr val="bg1"/>
                          </a:solidFill>
                          <a:latin typeface="+mj-lt"/>
                        </a:rPr>
                        <m:t>% 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5285232"/>
                <a:ext cx="3291840" cy="347472"/>
              </a:xfrm>
              <a:prstGeom prst="rect">
                <a:avLst/>
              </a:prstGeom>
              <a:blipFill>
                <a:blip r:embed="rId4"/>
                <a:stretch>
                  <a:fillRect t="-12281" b="-17544"/>
                </a:stretch>
              </a:blipFill>
              <a:ln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14"/>
          <p:cNvSpPr/>
          <p:nvPr/>
        </p:nvSpPr>
        <p:spPr>
          <a:xfrm>
            <a:off x="7059168" y="214884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→ central tendency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→ observed spread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→ relative variation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59168" y="3520440"/>
            <a:ext cx="4224528" cy="1143000"/>
          </a:xfrm>
          <a:prstGeom prst="roundRect">
            <a:avLst>
              <a:gd name="adj" fmla="val 480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3730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E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96912" y="40507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empirical interval = flag for review, not proof of structural damage.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59168" y="49834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there is no external reference system for this bridge, the baseline is internal—not a certified accuracy benchmark and not a universal safety threshold.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Frequency Construction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III · VALIDATION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the study actually prove?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is deliberately matched to the evidence available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64792"/>
            <a:ext cx="5440680" cy="4251960"/>
          </a:xfrm>
          <a:prstGeom prst="roundRect">
            <a:avLst>
              <a:gd name="adj" fmla="val 129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0488" y="1764792"/>
            <a:ext cx="5440680" cy="4251960"/>
          </a:xfrm>
          <a:prstGeom prst="roundRect">
            <a:avLst>
              <a:gd name="adj" fmla="val 1290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0756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SUPPORT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2450592"/>
            <a:ext cx="45262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/ repeatability of the measurement procedure</a:t>
            </a:r>
            <a:endParaRPr lang="en-US" dirty="0"/>
          </a:p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dominant-frequency behavior</a:t>
            </a:r>
            <a:endParaRPr lang="en-US" dirty="0"/>
          </a:p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bridge-specific empirical baseline for the study period</a:t>
            </a:r>
            <a:endParaRPr lang="en-US" dirty="0"/>
          </a:p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among documented traffic conditions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73952" y="2075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C9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CLAIM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73952" y="2450592"/>
            <a:ext cx="452628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measurement accuracy without an external reference</a:t>
            </a:r>
            <a:endParaRPr lang="en-US" dirty="0"/>
          </a:p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damage diagnosis from frequency shift alone</a:t>
            </a:r>
            <a:endParaRPr lang="en-US" dirty="0"/>
          </a:p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 frequency threshold for bridge safety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73952" y="4590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COMPARISON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73952" y="49103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at </a:t>
            </a:r>
            <a:r>
              <a:rPr lang="en-US" sz="1400" b="1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 </a:t>
            </a:r>
            <a:r>
              <a:rPr lang="en-US" sz="140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assumptions are reasonably supported; Kruskal–Wallis as the nonparametric alternative.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773168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501091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POSITION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56232" y="4946904"/>
            <a:ext cx="3849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Repeatability is the defensible reliability target—not external accuracy.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Repeatability &amp; Statistics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I · SCOPE &amp; SIGNIFICANCE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study contributes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enough to matter, narrow enough to defend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55648"/>
            <a:ext cx="5532120" cy="4315968"/>
          </a:xfrm>
          <a:prstGeom prst="roundRect">
            <a:avLst>
              <a:gd name="adj" fmla="val 127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5352" y="1755648"/>
            <a:ext cx="5394960" cy="4315968"/>
          </a:xfrm>
          <a:prstGeom prst="roundRect">
            <a:avLst>
              <a:gd name="adj" fmla="val 1271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057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STUDY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2450592"/>
            <a:ext cx="461772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vibration acquisition</a:t>
            </a:r>
            <a:endParaRPr lang="en-US" dirty="0"/>
          </a:p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FFT-based dominant-frequency extraction</a:t>
            </a:r>
            <a:endParaRPr lang="en-US" dirty="0"/>
          </a:p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field sessions</a:t>
            </a:r>
            <a:endParaRPr lang="en-US" dirty="0"/>
          </a:p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baseline construction</a:t>
            </a:r>
            <a:endParaRPr lang="en-US" dirty="0"/>
          </a:p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Traffic-condition comparison</a:t>
            </a:r>
            <a:endParaRPr lang="en-US" dirty="0"/>
          </a:p>
          <a:p>
            <a:r>
              <a:rPr lang="en-US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visualization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37960" y="2057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450592"/>
            <a:ext cx="452628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quantitative layer between inspections</a:t>
            </a:r>
            <a:endParaRPr lang="en-US" dirty="0"/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accessible, cost-efficient components</a:t>
            </a:r>
            <a:endParaRPr lang="en-US" dirty="0"/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documented bridge-specific reference</a:t>
            </a:r>
            <a:endParaRPr lang="en-US" dirty="0"/>
          </a:p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future monitoring and later SHM research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37960" y="47365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502920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are specific to Buntun Bridge and the observed monitoring period; they do not replace formal bridge inspection.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Delimitation &amp; Significance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4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41442" y="-808250"/>
            <a:ext cx="2450592" cy="2450592"/>
          </a:xfrm>
          <a:prstGeom prst="ellipse">
            <a:avLst/>
          </a:prstGeom>
          <a:solidFill>
            <a:srgbClr val="116D98">
              <a:alpha val="90000"/>
            </a:srgbClr>
          </a:solidFill>
          <a:ln w="12700">
            <a:solidFill>
              <a:srgbClr val="116D9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05703" y="5188226"/>
            <a:ext cx="2846567" cy="2697480"/>
          </a:xfrm>
          <a:prstGeom prst="ellipse">
            <a:avLst/>
          </a:prstGeom>
          <a:solidFill>
            <a:srgbClr val="116D98">
              <a:alpha val="94000"/>
            </a:srgbClr>
          </a:solidFill>
          <a:ln w="12700">
            <a:solidFill>
              <a:srgbClr val="116D98">
                <a:alpha val="0"/>
              </a:srgbClr>
            </a:solidFill>
            <a:prstDash val="solid"/>
          </a:ln>
        </p:spPr>
      </p:sp>
      <p:pic>
        <p:nvPicPr>
          <p:cNvPr id="4" name="Image 0" descr="/mnt/data/ppt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1417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CONTRIBUTION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03504" y="1856232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way to observe a bridge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establish its own frequency reference.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03504" y="3703320"/>
            <a:ext cx="2971800" cy="1143000"/>
          </a:xfrm>
          <a:prstGeom prst="roundRect">
            <a:avLst>
              <a:gd name="adj" fmla="val 4800"/>
            </a:avLst>
          </a:prstGeom>
          <a:solidFill>
            <a:srgbClr val="0F5A86"/>
          </a:solidFill>
          <a:ln w="12700">
            <a:solidFill>
              <a:srgbClr val="0F5A8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3913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4672" y="422452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Buntun Bridge in service.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70832" y="3703320"/>
            <a:ext cx="2971800" cy="1143000"/>
          </a:xfrm>
          <a:prstGeom prst="roundRect">
            <a:avLst>
              <a:gd name="adj" fmla="val 4800"/>
            </a:avLst>
          </a:prstGeom>
          <a:solidFill>
            <a:srgbClr val="0F5A86"/>
          </a:solidFill>
          <a:ln w="12700">
            <a:solidFill>
              <a:srgbClr val="0F5A8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3913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0" y="422452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vibration to a repeatable frequency indicator.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38160" y="3703320"/>
            <a:ext cx="2971800" cy="1143000"/>
          </a:xfrm>
          <a:prstGeom prst="roundRect">
            <a:avLst>
              <a:gd name="adj" fmla="val 4800"/>
            </a:avLst>
          </a:prstGeom>
          <a:solidFill>
            <a:srgbClr val="06CED6"/>
          </a:solidFill>
          <a:ln w="12700">
            <a:solidFill>
              <a:srgbClr val="06CE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3913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39328" y="422452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A4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empirical baseline from repeated sessions.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3504" y="5321808"/>
            <a:ext cx="10506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F3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“Because no external reference system is available, the study does not manufacture an accuracy percentage. It establishes what can be measured reproducibly and transparently from the actual bridge.”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078992" cy="246888"/>
          </a:xfrm>
          <a:prstGeom prst="roundRect">
            <a:avLst>
              <a:gd name="adj" fmla="val 22222"/>
            </a:avLst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33756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47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sources from the thesis RRL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2064" y="1078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here to show the evidence base behind the method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1155680" cy="0"/>
          </a:xfrm>
          <a:prstGeom prst="line">
            <a:avLst/>
          </a:prstGeom>
          <a:noFill/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46504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967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" y="17190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Avci et al. (2021) — Structural Health Monitoring and damage detection review.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594360" y="2432304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825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" y="24048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 (2017) — Operational modal analysis with inexpensive accelerometers on an eleven-span bridge.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594360" y="3118104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683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" y="30906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Gaviña et al. (2017) — SmartBridge sensor nodes for Philippine bridges.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594360" y="3803904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541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" y="37764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Hasani &amp; Freddi (2023) — Operational Modal Analysis for field vibration measurements.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594360" y="4489704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5399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" y="44622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Hidalgo-Fort et al. (2024) — Low-cost edge-computing SHM for bridges.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594360" y="5175504"/>
            <a:ext cx="384048" cy="384048"/>
          </a:xfrm>
          <a:prstGeom prst="ellipse">
            <a:avLst/>
          </a:prstGeom>
          <a:solidFill>
            <a:srgbClr val="0A4773"/>
          </a:solidFill>
          <a:ln w="12700">
            <a:solidFill>
              <a:srgbClr val="0A47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52257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" y="51480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Komarizadehasl et al. (2022a,b) — Low-cost triaxial / wireless accelerometer systems for bridge monitoring.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6217920" y="1746504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7967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48272" y="17190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 et al. (2018) — Fuzzy-based bridge structural health rating using accelerometer sensors.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6217920" y="2432304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4825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48272" y="24048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Payawal et al. (2017) — MEMS accelerometer calibration through remote monitoring.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6217920" y="3118104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1683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48272" y="30906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Sohn (2007) — Effects of environmental and operational variability on SHM.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6217920" y="3803904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8541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48272" y="37764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(2022) — Review of environmental and operational effects on modal frequency.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6217920" y="4489704"/>
            <a:ext cx="384048" cy="384048"/>
          </a:xfrm>
          <a:prstGeom prst="ellipse">
            <a:avLst/>
          </a:prstGeom>
          <a:solidFill>
            <a:srgbClr val="0F67B1"/>
          </a:solidFill>
          <a:ln w="12700">
            <a:solidFill>
              <a:srgbClr val="0F67B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453999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48272" y="44622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&amp; Sun (2019) — Traffic and temperature effects on bridge modal-frequency variation.</a:t>
            </a:r>
            <a:endParaRPr lang="en-US" sz="910" dirty="0"/>
          </a:p>
        </p:txBody>
      </p:sp>
      <p:sp>
        <p:nvSpPr>
          <p:cNvPr id="40" name="Text 38"/>
          <p:cNvSpPr/>
          <p:nvPr/>
        </p:nvSpPr>
        <p:spPr>
          <a:xfrm>
            <a:off x="3383280" y="59618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bibliographic entries are contained in the thesis manuscript.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763524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Research Presentation  ·  2026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1393424" y="643737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4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0112" y="4883404"/>
            <a:ext cx="3474720" cy="3321260"/>
          </a:xfrm>
          <a:prstGeom prst="ellipse">
            <a:avLst/>
          </a:prstGeom>
          <a:solidFill>
            <a:srgbClr val="116D98">
              <a:alpha val="93000"/>
            </a:srgbClr>
          </a:solidFill>
          <a:ln w="12700">
            <a:solidFill>
              <a:srgbClr val="116D9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25100" y="5207000"/>
            <a:ext cx="2618232" cy="2364232"/>
          </a:xfrm>
          <a:prstGeom prst="ellipse">
            <a:avLst/>
          </a:prstGeom>
          <a:solidFill>
            <a:srgbClr val="06CED6">
              <a:alpha val="42000"/>
            </a:srgbClr>
          </a:solidFill>
          <a:ln w="12700">
            <a:solidFill>
              <a:srgbClr val="06CED6">
                <a:alpha val="0"/>
              </a:srgbClr>
            </a:solidFill>
            <a:prstDash val="solid"/>
          </a:ln>
        </p:spPr>
      </p:sp>
      <p:pic>
        <p:nvPicPr>
          <p:cNvPr id="4" name="Image 0" descr="/mnt/data/ppt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051560"/>
            <a:ext cx="1325880" cy="1325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60520" y="2651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407408" y="33101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892040" y="3858768"/>
            <a:ext cx="2377440" cy="0"/>
          </a:xfrm>
          <a:prstGeom prst="line">
            <a:avLst/>
          </a:prstGeom>
          <a:noFill/>
          <a:ln w="25400">
            <a:solidFill>
              <a:srgbClr val="06CE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70832" y="4251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Clyde T. Talosig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46120" y="464515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Cagayan State University – Carig Campus  ·  Bachelor of Science in Electronics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2312</Words>
  <Application>Microsoft Office PowerPoint</Application>
  <PresentationFormat>Widescreen</PresentationFormat>
  <Paragraphs>382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Cagayan State University – Carig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a Localized Real-Time Frequency Monitoring System for Structural Health Monitoring Using MEMS IMUs and ESP32-S3</dc:title>
  <dc:subject>Thesis Research Presentation</dc:subject>
  <dc:creator>Jan Clyde T. Talosig</dc:creator>
  <cp:lastModifiedBy>Jan Clyde Talosig</cp:lastModifiedBy>
  <cp:revision>22</cp:revision>
  <dcterms:created xsi:type="dcterms:W3CDTF">2026-09-02T17:44:23Z</dcterms:created>
  <dcterms:modified xsi:type="dcterms:W3CDTF">2026-09-02T18:28:17Z</dcterms:modified>
</cp:coreProperties>
</file>